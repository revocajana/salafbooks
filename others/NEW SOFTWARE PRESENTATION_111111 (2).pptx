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5" r:id="rId2"/>
    <p:sldId id="310" r:id="rId3"/>
    <p:sldId id="320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</p:sldIdLst>
  <p:sldSz cx="12188825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29" autoAdjust="0"/>
  </p:normalViewPr>
  <p:slideViewPr>
    <p:cSldViewPr showGuides="1">
      <p:cViewPr varScale="1">
        <p:scale>
          <a:sx n="79" d="100"/>
          <a:sy n="79" d="100"/>
        </p:scale>
        <p:origin x="420" y="78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1/15/2026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1/15/2026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1/15/2026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1/15/2026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1/15/2026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1/15/2026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1/15/2026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1/15/2026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1/15/2026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1/15/2026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1/15/2026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1/15/2026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05780" y="1844824"/>
            <a:ext cx="11593288" cy="1368152"/>
          </a:xfrm>
        </p:spPr>
        <p:txBody>
          <a:bodyPr>
            <a:noAutofit/>
          </a:bodyPr>
          <a:lstStyle/>
          <a:p>
            <a:r>
              <a:rPr lang="en-US" sz="7200" dirty="0">
                <a:latin typeface="Segoe UI" panose="020B0502040204020203" pitchFamily="34" charset="0"/>
                <a:cs typeface="Segoe UI" panose="020B0502040204020203" pitchFamily="34" charset="0"/>
              </a:rPr>
              <a:t>Software Engineering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693812" y="3501008"/>
            <a:ext cx="8064896" cy="1872208"/>
          </a:xfrm>
        </p:spPr>
        <p:txBody>
          <a:bodyPr/>
          <a:lstStyle/>
          <a:p>
            <a:r>
              <a:rPr lang="en-US" sz="4000" dirty="0"/>
              <a:t>PRESENTATION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endParaRPr lang="en-US" sz="2400" dirty="0">
              <a:solidFill>
                <a:schemeClr val="tx1"/>
              </a:solidFill>
            </a:endParaRPr>
          </a:p>
          <a:p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pPr lvl="0" algn="r"/>
            <a:r>
              <a:rPr lang="en-US" sz="28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 No:01 </a:t>
            </a:r>
            <a:endParaRPr lang="en-US" sz="2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837829" y="381000"/>
            <a:ext cx="9828586" cy="1371600"/>
          </a:xfrm>
        </p:spPr>
        <p:txBody>
          <a:bodyPr/>
          <a:lstStyle/>
          <a:p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Question</a:t>
            </a:r>
            <a:r>
              <a:rPr lang="en-US" b="1" dirty="0" smtClean="0"/>
              <a:t>: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765820" y="1904999"/>
            <a:ext cx="10585175" cy="41148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sz="3600" dirty="0"/>
              <a:t>Implement Classical Modeling (Unified Modeling Language (UML)) and tools in process modeling such as Sequence and Activity diagrams.</a:t>
            </a:r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837828" y="116632"/>
            <a:ext cx="10657184" cy="864096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We need to understand these terms</a:t>
            </a:r>
            <a:r>
              <a:rPr lang="en-US" sz="4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en-US" sz="4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981844" y="1196752"/>
            <a:ext cx="11017224" cy="5184576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Classical </a:t>
            </a:r>
            <a:r>
              <a:rPr lang="en-US" sz="3200" b="1" dirty="0"/>
              <a:t>Modeling</a:t>
            </a:r>
            <a:r>
              <a:rPr lang="en-US" sz="3200" dirty="0"/>
              <a:t>: Visual representation of software systems to understand and improve processes.</a:t>
            </a:r>
          </a:p>
          <a:p>
            <a:r>
              <a:rPr lang="en-US" sz="3200" b="1" dirty="0"/>
              <a:t>Unified Modeling Language (UML)</a:t>
            </a:r>
            <a:r>
              <a:rPr lang="en-US" sz="3200" dirty="0"/>
              <a:t>: Standardized visual modeling language used in software engineering.</a:t>
            </a:r>
          </a:p>
          <a:p>
            <a:r>
              <a:rPr lang="en-US" sz="3200" b="1" dirty="0"/>
              <a:t>Process Modeling</a:t>
            </a:r>
            <a:r>
              <a:rPr lang="en-US" sz="3200" dirty="0"/>
              <a:t>: Visualizing steps, workflow, or interactions in a software process.</a:t>
            </a:r>
          </a:p>
          <a:p>
            <a:r>
              <a:rPr lang="en-US" sz="3200" b="1" dirty="0"/>
              <a:t>Tools in Process Modeling</a:t>
            </a:r>
            <a:r>
              <a:rPr lang="en-US" sz="3200" dirty="0"/>
              <a:t>: Diagrams and software tools used to represent processes.</a:t>
            </a:r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075329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780288" y="116632"/>
            <a:ext cx="10714724" cy="864096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What is UML</a:t>
            </a:r>
            <a:r>
              <a:rPr lang="en-US" sz="4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endParaRPr lang="en-US" sz="4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909836" y="1196752"/>
            <a:ext cx="11089232" cy="504056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UML </a:t>
            </a:r>
            <a:r>
              <a:rPr lang="en-US" sz="3600" dirty="0"/>
              <a:t>is a </a:t>
            </a:r>
            <a:r>
              <a:rPr lang="en-US" sz="3600" b="1" dirty="0"/>
              <a:t>standard visual modeling language</a:t>
            </a:r>
            <a:r>
              <a:rPr lang="en-US" sz="3600" dirty="0"/>
              <a:t> in software engineering (</a:t>
            </a:r>
            <a:r>
              <a:rPr lang="en-US" sz="3600" dirty="0" err="1"/>
              <a:t>Booch</a:t>
            </a:r>
            <a:r>
              <a:rPr lang="en-US" sz="3600" dirty="0"/>
              <a:t>, </a:t>
            </a:r>
            <a:r>
              <a:rPr lang="en-US" sz="3600" dirty="0" err="1"/>
              <a:t>Rumbaugh</a:t>
            </a:r>
            <a:r>
              <a:rPr lang="en-US" sz="3600" dirty="0"/>
              <a:t>, Jacobson, 2005).</a:t>
            </a:r>
          </a:p>
          <a:p>
            <a:r>
              <a:rPr lang="en-US" sz="3600" dirty="0"/>
              <a:t>UML helps create models for:</a:t>
            </a:r>
          </a:p>
          <a:p>
            <a:pPr lvl="1"/>
            <a:r>
              <a:rPr lang="en-US" sz="3200" b="1" dirty="0"/>
              <a:t>Structure</a:t>
            </a:r>
            <a:r>
              <a:rPr lang="en-US" sz="3200" dirty="0"/>
              <a:t>: Class Diagram, Component Diagram</a:t>
            </a:r>
          </a:p>
          <a:p>
            <a:pPr lvl="1"/>
            <a:r>
              <a:rPr lang="en-US" sz="3200" b="1" dirty="0"/>
              <a:t>Behavior</a:t>
            </a:r>
            <a:r>
              <a:rPr lang="en-US" sz="3200" dirty="0"/>
              <a:t>: Use Case Diagram, Activity Diagram, Sequence Diagram</a:t>
            </a:r>
          </a:p>
          <a:p>
            <a:pPr lvl="1"/>
            <a:r>
              <a:rPr lang="en-US" sz="3200" b="1" dirty="0"/>
              <a:t>Interaction</a:t>
            </a:r>
            <a:r>
              <a:rPr lang="en-US" sz="3200" dirty="0"/>
              <a:t>: Sequence Diagram</a:t>
            </a:r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659302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864096"/>
          </a:xfrm>
        </p:spPr>
        <p:txBody>
          <a:bodyPr>
            <a:noAutofit/>
          </a:bodyPr>
          <a:lstStyle/>
          <a:p>
            <a:r>
              <a:rPr lang="en-US" sz="4400" b="1" dirty="0" smtClean="0"/>
              <a:t>What </a:t>
            </a:r>
            <a:r>
              <a:rPr lang="en-US" sz="4400" b="1" dirty="0"/>
              <a:t>is Process Modeling</a:t>
            </a:r>
            <a:r>
              <a:rPr lang="en-US" sz="4400" b="1" dirty="0" smtClean="0"/>
              <a:t>?</a:t>
            </a:r>
            <a:endParaRPr lang="en-US" sz="4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97868" y="1196752"/>
            <a:ext cx="10801200" cy="504056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Process </a:t>
            </a:r>
            <a:r>
              <a:rPr lang="en-US" sz="3600" dirty="0"/>
              <a:t>modeling visualizes </a:t>
            </a:r>
            <a:r>
              <a:rPr lang="en-US" sz="3600" b="1" dirty="0"/>
              <a:t>the steps, workflow, or interactions</a:t>
            </a:r>
            <a:r>
              <a:rPr lang="en-US" sz="3600" dirty="0"/>
              <a:t> in a system.</a:t>
            </a:r>
          </a:p>
          <a:p>
            <a:r>
              <a:rPr lang="en-US" sz="3600" dirty="0"/>
              <a:t>Helps developers and stakeholders </a:t>
            </a:r>
            <a:r>
              <a:rPr lang="en-US" sz="3600" b="1" dirty="0"/>
              <a:t>understand, communicate, and improve</a:t>
            </a:r>
            <a:r>
              <a:rPr lang="en-US" sz="3600" dirty="0"/>
              <a:t> processes.</a:t>
            </a:r>
          </a:p>
          <a:p>
            <a:r>
              <a:rPr lang="en-US" sz="3600" b="1" dirty="0" smtClean="0"/>
              <a:t>Examples:</a:t>
            </a:r>
            <a:r>
              <a:rPr lang="en-US" sz="3600" dirty="0"/>
              <a:t> </a:t>
            </a:r>
            <a:r>
              <a:rPr lang="en-US" sz="3200" dirty="0" smtClean="0"/>
              <a:t>E-commerce </a:t>
            </a:r>
            <a:r>
              <a:rPr lang="en-US" sz="3200" dirty="0"/>
              <a:t>order processing</a:t>
            </a:r>
          </a:p>
          <a:p>
            <a:pPr lvl="1"/>
            <a:r>
              <a:rPr lang="en-US" sz="3200" dirty="0"/>
              <a:t>User registration workflow</a:t>
            </a:r>
          </a:p>
          <a:p>
            <a:pPr lvl="1"/>
            <a:r>
              <a:rPr lang="en-US" sz="3200" dirty="0"/>
              <a:t>Payment processing</a:t>
            </a:r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675074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053852" y="116632"/>
            <a:ext cx="10297144" cy="864096"/>
          </a:xfrm>
        </p:spPr>
        <p:txBody>
          <a:bodyPr>
            <a:noAutofit/>
          </a:bodyPr>
          <a:lstStyle/>
          <a:p>
            <a:r>
              <a:rPr lang="en-US" sz="4400" b="1" dirty="0"/>
              <a:t>Tools in Process </a:t>
            </a:r>
            <a:r>
              <a:rPr lang="en-US" sz="4400" b="1" dirty="0" smtClean="0"/>
              <a:t>Modeling</a:t>
            </a:r>
            <a:endParaRPr lang="en-US" sz="4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341884" y="1196752"/>
            <a:ext cx="10657184" cy="5040560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Sequence </a:t>
            </a:r>
            <a:r>
              <a:rPr lang="en-US" sz="3200" b="1" dirty="0"/>
              <a:t>Diagram:</a:t>
            </a:r>
            <a:r>
              <a:rPr lang="en-US" sz="3200" dirty="0"/>
              <a:t> Shows interactions between actors and system over time.</a:t>
            </a:r>
          </a:p>
          <a:p>
            <a:r>
              <a:rPr lang="en-US" sz="3200" b="1" dirty="0"/>
              <a:t>Activity Diagram:</a:t>
            </a:r>
            <a:r>
              <a:rPr lang="en-US" sz="3200" dirty="0"/>
              <a:t> Shows workflow, branching, and decision points.</a:t>
            </a:r>
          </a:p>
          <a:p>
            <a:r>
              <a:rPr lang="en-US" sz="3200" b="1" dirty="0"/>
              <a:t>Use Case Diagram:</a:t>
            </a:r>
            <a:r>
              <a:rPr lang="en-US" sz="3200" dirty="0"/>
              <a:t> Shows actors and their interactions with the system.</a:t>
            </a:r>
          </a:p>
          <a:p>
            <a:pPr marL="0" indent="0">
              <a:buNone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81973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837828" y="116632"/>
            <a:ext cx="11017224" cy="864096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Steps to Implement Process </a:t>
            </a:r>
            <a:r>
              <a:rPr lang="en-US" sz="4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Modeling</a:t>
            </a:r>
            <a:endParaRPr lang="en-US" sz="4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837828" y="1340768"/>
            <a:ext cx="11161240" cy="532859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Step </a:t>
            </a:r>
            <a:r>
              <a:rPr lang="en-US" sz="3200" b="1" dirty="0"/>
              <a:t>1: Select a Process</a:t>
            </a:r>
            <a:endParaRPr lang="en-US" sz="3200" dirty="0"/>
          </a:p>
          <a:p>
            <a:pPr marL="0" indent="0">
              <a:buNone/>
            </a:pPr>
            <a:r>
              <a:rPr lang="en-US" sz="3200" dirty="0" smtClean="0"/>
              <a:t>       Example</a:t>
            </a:r>
            <a:r>
              <a:rPr lang="en-US" sz="3200" dirty="0"/>
              <a:t>: Online Order Processing in an e-commerce </a:t>
            </a:r>
            <a:r>
              <a:rPr lang="en-US" sz="3200" dirty="0" smtClean="0"/>
              <a:t>system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b="1" dirty="0"/>
              <a:t>Step 2: Identify Actors and Components</a:t>
            </a:r>
            <a:endParaRPr lang="en-US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 smtClean="0"/>
              <a:t> </a:t>
            </a:r>
            <a:r>
              <a:rPr lang="en-US" sz="3200" b="1" dirty="0" smtClean="0"/>
              <a:t>Actors</a:t>
            </a:r>
            <a:r>
              <a:rPr lang="en-US" sz="3200" b="1" dirty="0"/>
              <a:t>:</a:t>
            </a:r>
            <a:r>
              <a:rPr lang="en-US" sz="3200" dirty="0"/>
              <a:t> Customer, Payment Gateway, Inventory System, Shipping System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 smtClean="0"/>
              <a:t> Components</a:t>
            </a:r>
            <a:r>
              <a:rPr lang="en-US" sz="3200" b="1" dirty="0"/>
              <a:t>:</a:t>
            </a:r>
            <a:r>
              <a:rPr lang="en-US" sz="3200" dirty="0"/>
              <a:t> E-commerce application</a:t>
            </a:r>
          </a:p>
          <a:p>
            <a:pPr marL="0" indent="0">
              <a:buNone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73285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693812" y="116632"/>
            <a:ext cx="10297144" cy="864096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lang="en-US" sz="4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teps to implement continue…</a:t>
            </a:r>
            <a:endParaRPr lang="en-US" sz="4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837828" y="1340768"/>
            <a:ext cx="11161240" cy="3816424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Step </a:t>
            </a:r>
            <a:r>
              <a:rPr lang="en-US" sz="3200" b="1" dirty="0"/>
              <a:t>3: Create Diagrams</a:t>
            </a:r>
            <a:endParaRPr lang="en-US" sz="32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/>
              <a:t>Sequence </a:t>
            </a:r>
            <a:r>
              <a:rPr lang="en-US" sz="3200" dirty="0"/>
              <a:t>Diagram: Show interaction order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/>
              <a:t>Activity Diagram: Show workflow and decision points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/>
              <a:t>Use Case Diagram: Show actor interactions</a:t>
            </a:r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55484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693812" y="116632"/>
            <a:ext cx="10297144" cy="864096"/>
          </a:xfrm>
        </p:spPr>
        <p:txBody>
          <a:bodyPr>
            <a:noAutofit/>
          </a:bodyPr>
          <a:lstStyle/>
          <a:p>
            <a:r>
              <a:rPr lang="en-US" sz="4400" b="1" dirty="0"/>
              <a:t>Example – Sequence Diagram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693812" y="1340768"/>
            <a:ext cx="11305256" cy="5040560"/>
          </a:xfrm>
        </p:spPr>
        <p:txBody>
          <a:bodyPr>
            <a:noAutofit/>
          </a:bodyPr>
          <a:lstStyle/>
          <a:p>
            <a:r>
              <a:rPr lang="en-US" sz="3600" dirty="0" smtClean="0"/>
              <a:t>Shows </a:t>
            </a:r>
            <a:r>
              <a:rPr lang="en-US" sz="3600" b="1" dirty="0"/>
              <a:t>how actors and system components interact</a:t>
            </a:r>
            <a:r>
              <a:rPr lang="en-US" sz="3600" dirty="0"/>
              <a:t> over time.</a:t>
            </a:r>
          </a:p>
          <a:p>
            <a:r>
              <a:rPr lang="en-US" sz="3600" dirty="0"/>
              <a:t>Example:</a:t>
            </a:r>
          </a:p>
          <a:p>
            <a:pPr marL="746125" lvl="1" indent="-514350">
              <a:buFont typeface="+mj-lt"/>
              <a:buAutoNum type="romanLcPeriod"/>
            </a:pPr>
            <a:r>
              <a:rPr lang="en-US" sz="3200" dirty="0"/>
              <a:t>Customer places order</a:t>
            </a:r>
          </a:p>
          <a:p>
            <a:pPr marL="746125" lvl="1" indent="-514350">
              <a:buFont typeface="+mj-lt"/>
              <a:buAutoNum type="romanLcPeriod"/>
            </a:pPr>
            <a:r>
              <a:rPr lang="en-US" sz="3200" dirty="0"/>
              <a:t>System checks inventory</a:t>
            </a:r>
          </a:p>
          <a:p>
            <a:pPr marL="746125" lvl="1" indent="-514350">
              <a:buFont typeface="+mj-lt"/>
              <a:buAutoNum type="romanLcPeriod"/>
            </a:pPr>
            <a:r>
              <a:rPr lang="en-US" sz="3200" dirty="0"/>
              <a:t>Payment Gateway processes payment</a:t>
            </a:r>
          </a:p>
          <a:p>
            <a:pPr marL="746125" lvl="1" indent="-514350">
              <a:buFont typeface="+mj-lt"/>
              <a:buAutoNum type="romanLcPeriod"/>
            </a:pPr>
            <a:r>
              <a:rPr lang="en-US" sz="3200" dirty="0"/>
              <a:t>Shipping system dispatches order</a:t>
            </a:r>
          </a:p>
          <a:p>
            <a:pPr marL="0" indent="0">
              <a:buNone/>
            </a:pP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57059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693812" y="116632"/>
            <a:ext cx="10297144" cy="864096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lang="en-US" sz="4400" b="1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teps to implement continue…</a:t>
            </a:r>
            <a:endParaRPr lang="en-US" sz="4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9877" y="1268760"/>
            <a:ext cx="9665010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604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693812" y="116632"/>
            <a:ext cx="10297144" cy="864096"/>
          </a:xfrm>
        </p:spPr>
        <p:txBody>
          <a:bodyPr>
            <a:noAutofit/>
          </a:bodyPr>
          <a:lstStyle/>
          <a:p>
            <a:r>
              <a:rPr lang="en-US" sz="4400" b="1" dirty="0"/>
              <a:t>Example – Activity </a:t>
            </a:r>
            <a:r>
              <a:rPr lang="en-US" sz="4400" b="1" dirty="0" smtClean="0"/>
              <a:t>Diagram</a:t>
            </a:r>
            <a:endParaRPr lang="en-US" sz="4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693812" y="1340768"/>
            <a:ext cx="11305256" cy="5040560"/>
          </a:xfrm>
        </p:spPr>
        <p:txBody>
          <a:bodyPr>
            <a:noAutofit/>
          </a:bodyPr>
          <a:lstStyle/>
          <a:p>
            <a:r>
              <a:rPr lang="en-US" sz="3600" dirty="0" smtClean="0"/>
              <a:t>Represents </a:t>
            </a:r>
            <a:r>
              <a:rPr lang="en-US" sz="3600" b="1" dirty="0"/>
              <a:t>workflow of a process</a:t>
            </a:r>
            <a:r>
              <a:rPr lang="en-US" sz="3600" dirty="0"/>
              <a:t>.</a:t>
            </a:r>
          </a:p>
          <a:p>
            <a:r>
              <a:rPr lang="en-US" sz="3600" dirty="0"/>
              <a:t>Example: Online Order Processing:</a:t>
            </a:r>
            <a:br>
              <a:rPr lang="en-US" sz="3600" dirty="0"/>
            </a:br>
            <a:r>
              <a:rPr lang="en-US" sz="3600" dirty="0"/>
              <a:t>Start → Browse Products → Add to Cart → Checkout → Payment → Confirmation → End</a:t>
            </a:r>
          </a:p>
          <a:p>
            <a:pPr marL="0" indent="0">
              <a:buNone/>
            </a:pP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101312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052" y="188641"/>
            <a:ext cx="6424092" cy="666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794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50</TotalTime>
  <Words>333</Words>
  <Application>Microsoft Office PowerPoint</Application>
  <PresentationFormat>Custom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Corbel</vt:lpstr>
      <vt:lpstr>Segoe UI</vt:lpstr>
      <vt:lpstr>Wingdings</vt:lpstr>
      <vt:lpstr>Digital Blue Tunnel 16x9</vt:lpstr>
      <vt:lpstr>Software Engineering</vt:lpstr>
      <vt:lpstr>Question:</vt:lpstr>
      <vt:lpstr>We need to understand these terms:</vt:lpstr>
      <vt:lpstr>What is UML?</vt:lpstr>
      <vt:lpstr>What is Process Modeling?</vt:lpstr>
      <vt:lpstr>Tools in Process Modeling</vt:lpstr>
      <vt:lpstr>Steps to Implement Process Modeling</vt:lpstr>
      <vt:lpstr>Steps to implement continue…</vt:lpstr>
      <vt:lpstr>Example – Sequence Diagram</vt:lpstr>
      <vt:lpstr>Steps to implement continue…</vt:lpstr>
      <vt:lpstr>Example – Activity Diagram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nestory</dc:creator>
  <cp:lastModifiedBy>nestory</cp:lastModifiedBy>
  <cp:revision>6</cp:revision>
  <dcterms:created xsi:type="dcterms:W3CDTF">2026-01-15T18:23:14Z</dcterms:created>
  <dcterms:modified xsi:type="dcterms:W3CDTF">2026-01-15T20:10:39Z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