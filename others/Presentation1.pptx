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591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814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292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342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2747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626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584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373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03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48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0224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34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23998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4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586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739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3DC95-0606-46A9-B0C4-9BC65A8E19D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05A5A90-3F78-4096-BF0A-C21D93657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71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2890-94F4-E034-40A4-0672CBE0C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7783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E06442-201F-D287-68A8-898E7151D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55800"/>
            <a:ext cx="9144000" cy="4330700"/>
          </a:xfrm>
        </p:spPr>
        <p:txBody>
          <a:bodyPr/>
          <a:lstStyle/>
          <a:p>
            <a:pPr marL="0" marR="0"/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r>
              <a:rPr lang="en-US" sz="3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GROUP: 07</a:t>
            </a:r>
          </a:p>
          <a:p>
            <a:pPr lvl="1"/>
            <a:endParaRPr lang="en-US" sz="38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r>
              <a:rPr lang="en-US" sz="3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Implementing Object-Oriented Modeling Using Class Diagrams</a:t>
            </a:r>
          </a:p>
        </p:txBody>
      </p:sp>
    </p:spTree>
    <p:extLst>
      <p:ext uri="{BB962C8B-B14F-4D97-AF65-F5344CB8AC3E}">
        <p14:creationId xmlns:p14="http://schemas.microsoft.com/office/powerpoint/2010/main" val="9277424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B48E5-C836-D947-C2B3-0DE7437B3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Object-Oriented Modeling (OOM) — In Depth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F2237-1B88-E071-7269-8F80693B3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2200" y="1397000"/>
            <a:ext cx="10515600" cy="4589463"/>
          </a:xfrm>
        </p:spPr>
        <p:txBody>
          <a:bodyPr>
            <a:normAutofit lnSpcReduction="10000"/>
          </a:bodyPr>
          <a:lstStyle/>
          <a:p>
            <a:pPr marL="0" marR="0"/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Object-Oriented Modeling (OOM) is a system analysis and design </a:t>
            </a:r>
          </a:p>
          <a:p>
            <a:pPr marL="0" marR="0" indent="0">
              <a:buNone/>
            </a:pP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technique that models software as a collection of interacting objects.</a:t>
            </a:r>
            <a:b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Each object represents a real-world or conceptual entity.</a:t>
            </a:r>
            <a:endParaRPr lang="en-US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OOM focuses on:</a:t>
            </a:r>
            <a:endParaRPr lang="en-US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Structure of the system</a:t>
            </a:r>
            <a:endParaRPr lang="en-US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Behavior of objects</a:t>
            </a:r>
            <a:endParaRPr lang="en-US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Relationships between objects</a:t>
            </a:r>
          </a:p>
          <a:p>
            <a:pPr marR="0"/>
            <a:endParaRPr lang="en-US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OOM is implemented using Unified Modeling Language (UML), which </a:t>
            </a:r>
          </a:p>
          <a:p>
            <a:pPr marL="0" marR="0" indent="0">
              <a:buNone/>
            </a:pP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provides standardized diagrams for system modeling.</a:t>
            </a:r>
            <a:endParaRPr lang="en-US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2897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B3C6D-8478-063D-5F7C-06A4FAAF1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Core Object-Oriented Concepts Applied in Modeling</a:t>
            </a:r>
            <a:endParaRPr lang="en-US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583441-7D38-5846-F377-8878BAAFED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340243"/>
            <a:ext cx="8695787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2.1 Encapsulation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Encapsulation means bundling data and methods together inside 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and hiding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internal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class diagrams: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Attributes are often marked private (-)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Methods are public (+)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registerCourse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protects data and enforces controlled access.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2668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D4711-D552-7D84-0052-22371A3C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Continue…</a:t>
            </a:r>
            <a:endParaRPr lang="en-US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3DD8BC-3CE0-AE39-DEDA-838018E1F1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371868"/>
            <a:ext cx="839717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2.2 Abstraction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Abstraction focuses on what an object does, not how it does it.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class diagrams: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 relevant attributes and methods are shown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details are hidden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Payment class shows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makePayment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but not how the payment 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processed internally.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7453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5426B-37C8-A5D8-1973-7724343A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Continue…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BCDEBE-75AA-1E45-F8CA-BA8313F511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586737"/>
            <a:ext cx="788998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2.3 Inheritance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Inheritance allows one class to reuse properties of another class.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class diagrams: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Represented by an arrow pointing to the parent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↑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 inherits attributes like name and email from Person.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454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21457-D233-6120-B4DD-44D863A6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Continue…</a:t>
            </a:r>
            <a:endParaRPr lang="en-US" sz="28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B8FCE4-5910-B9E8-4F68-9F23A626B4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395442"/>
            <a:ext cx="833247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2.4 Polymorphism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Polymorphism allows different classes to respond differently to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same method call.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modeling: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Same method name appears in different classes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Behavior differs during 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calculateGrade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in Student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calculateGrade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in Lecturer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5533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5E37A-B85D-13E2-40B8-8B4AFDDE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Class Diagram — Technical Definition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B3850-2E7D-47F0-BE40-2DC668B0F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341215"/>
            <a:ext cx="10515600" cy="4892675"/>
          </a:xfrm>
        </p:spPr>
        <p:txBody>
          <a:bodyPr>
            <a:normAutofit/>
          </a:bodyPr>
          <a:lstStyle/>
          <a:p>
            <a:pPr marL="0" marR="0"/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Class Diagram is a static structural UML diagram that describes:</a:t>
            </a:r>
          </a:p>
          <a:p>
            <a:pPr marL="457200" marR="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Classes</a:t>
            </a:r>
          </a:p>
          <a:p>
            <a:pPr marL="457200" marR="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Attributes</a:t>
            </a:r>
          </a:p>
          <a:p>
            <a:pPr marL="457200" marR="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Methods</a:t>
            </a:r>
          </a:p>
          <a:p>
            <a:pPr marL="457200" marR="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Relationships</a:t>
            </a:r>
          </a:p>
          <a:p>
            <a:pPr marL="457200" marR="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Multiplicity</a:t>
            </a:r>
          </a:p>
          <a:p>
            <a:pPr marL="457200" marR="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Visibility</a:t>
            </a:r>
          </a:p>
          <a:p>
            <a:pPr marL="457200" marR="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Dependencies</a:t>
            </a:r>
          </a:p>
          <a:p>
            <a:pPr marL="457200" marR="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acts as a blueprint for coding.</a:t>
            </a:r>
          </a:p>
          <a:p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7404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4F3AC-B21D-81FA-8936-C9F6298FF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Detailed Components of a Class Diagram</a:t>
            </a:r>
            <a:endParaRPr lang="en-US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455D4A-E5B9-6FD9-8898-CEF29E982C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351508"/>
            <a:ext cx="10515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4.1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class is a blueprint for creating objects.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Notation: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---------------------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Class Name        |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---------------------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Attributes        |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---------------------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Methods           |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---------------------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3362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B022-8898-3771-192A-971C5A42A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Continue…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9605E4-1D0F-EBD0-FE54-0C3B0C5F14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371581"/>
            <a:ext cx="104140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4.2 Attributes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Attributes represent the state of an object.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visibility name : datatype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int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name : String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3403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EEE10-0BD5-A844-F0CA-0CA58F7C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Continue…</a:t>
            </a:r>
            <a:endParaRPr lang="en-US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D9E5E4-D703-E22B-9283-3A64823A26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264555"/>
            <a:ext cx="10515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4.3 Methods (Operations)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Methods define behavior.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visibility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(parameters) 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returnType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registerCourse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: void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8039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CF07-77BB-27B8-9861-3E2B6BA7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Continue…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96B34-129D-0F6F-6EA6-AA7FC7A69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9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4.4 Visibility Symbols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Symbol Meaning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  Public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 Private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  Protected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2117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35A5B-A021-60BD-CF14-110D7894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Relationships in Class Diagrams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018580-7257-8417-1393-59A2B7F158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6900" y="1469412"/>
            <a:ext cx="10515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171700" lvl="5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5.1 Association</a:t>
            </a:r>
          </a:p>
          <a:p>
            <a:pPr marL="2171700" lvl="5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general relationship between classes.</a:t>
            </a:r>
          </a:p>
          <a:p>
            <a:pPr marL="2171700" lvl="5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1700" lvl="5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1700" lvl="5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 enrolls in Course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1700" lvl="5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Represented by: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1700" lvl="5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 ───────── Course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2454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9B106-5AFB-8620-800C-0A8E76D3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025" y="586010"/>
            <a:ext cx="8911687" cy="1280890"/>
          </a:xfrm>
        </p:spPr>
        <p:txBody>
          <a:bodyPr>
            <a:normAutofit/>
          </a:bodyPr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Continue…</a:t>
            </a:r>
            <a:endParaRPr lang="en-US" sz="2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C0695C1-F803-1733-CA58-481F155794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1700" y="1428452"/>
            <a:ext cx="9670774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5.2 Multiplicity</a:t>
            </a: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Shows how many objects participate in a relationship.</a:t>
            </a: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student → many courses (1..*)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lecturer → one course (1..1)</a:t>
            </a: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5.3 Aggregation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(Weak “has-a” relationship)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class contains another, but the contained object can exist independently.</a:t>
            </a: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◇ Lecturer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department is deleted, lecturers still exist.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0486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C35CF-85EE-9F86-9E40-4440FD19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Continue… 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2D3A8-02D8-9FAB-2187-635F3F47B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9"/>
            <a:ext cx="8915400" cy="3777622"/>
          </a:xfrm>
        </p:spPr>
        <p:txBody>
          <a:bodyPr>
            <a:noAutofit/>
          </a:bodyPr>
          <a:lstStyle/>
          <a:p>
            <a:pPr marL="0" marR="0" indent="0">
              <a:buNone/>
            </a:pP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5.4 Composition 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(Strong “has-a” relationship)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Contained object cannot exist without the container.</a:t>
            </a:r>
          </a:p>
          <a:p>
            <a:pPr marL="0" marR="0" indent="0">
              <a:buNone/>
            </a:pP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Example: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Order </a:t>
            </a:r>
            <a:r>
              <a:rPr lang="en-US" b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◆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OrderItem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order is deleted, order items are deleted too.</a:t>
            </a:r>
          </a:p>
          <a:p>
            <a:pPr marL="0" marR="0" indent="0">
              <a:buNone/>
            </a:pP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buNone/>
            </a:pP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5.5 Inheritance 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(Generalization)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Represents “is-a” relationship.</a:t>
            </a:r>
          </a:p>
          <a:p>
            <a:pPr marL="0" marR="0" indent="0">
              <a:buNone/>
            </a:pP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Example: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Student is a Person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1897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0320-34CF-0A1E-58DF-F945D3695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9575"/>
          </a:xfrm>
        </p:spPr>
        <p:txBody>
          <a:bodyPr>
            <a:noAutofit/>
          </a:bodyPr>
          <a:lstStyle/>
          <a:p>
            <a:pPr algn="ctr"/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Full Example: Student Management System (Deep View)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0FC4A-3825-C411-7B30-B5FB64726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700"/>
            <a:ext cx="10515600" cy="5719763"/>
          </a:xfrm>
        </p:spPr>
        <p:txBody>
          <a:bodyPr>
            <a:normAutofit/>
          </a:bodyPr>
          <a:lstStyle/>
          <a:p>
            <a:pPr marL="1428750" lvl="3" indent="-171450"/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Classes Identified</a:t>
            </a:r>
          </a:p>
          <a:p>
            <a:pPr marL="1257300" lvl="3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Person (Parent)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3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Student (Child)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3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Lecturer (Child)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3" indent="0">
              <a:buNone/>
            </a:pP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Course</a:t>
            </a:r>
          </a:p>
          <a:p>
            <a:pPr marL="1428750" lvl="3" indent="-171450"/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Person Class</a:t>
            </a:r>
          </a:p>
          <a:p>
            <a:pPr marL="1257300" lvl="3" indent="0">
              <a:buNone/>
            </a:pP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Attributes:</a:t>
            </a:r>
          </a:p>
          <a:p>
            <a:pPr marL="1257300" lvl="3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3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email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3" indent="0">
              <a:buNone/>
            </a:pP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Methods:</a:t>
            </a:r>
          </a:p>
          <a:p>
            <a:pPr marL="1257300" lvl="3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login()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28750" lvl="3" indent="-171450"/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Student Class (inherits Person)</a:t>
            </a:r>
          </a:p>
          <a:p>
            <a:pPr marL="1257300" lvl="3" indent="0">
              <a:buNone/>
            </a:pP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Attributes:</a:t>
            </a:r>
          </a:p>
          <a:p>
            <a:pPr marL="1257300" lvl="3" indent="0">
              <a:buNone/>
            </a:pPr>
            <a:r>
              <a:rPr lang="en-US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studentID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3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program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3" indent="0">
              <a:buNone/>
            </a:pP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Methods:</a:t>
            </a:r>
          </a:p>
          <a:p>
            <a:pPr marL="1257300" lvl="3" indent="0">
              <a:buNone/>
            </a:pPr>
            <a:r>
              <a:rPr lang="en-US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registerCourse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3" indent="0">
              <a:buNone/>
            </a:pPr>
            <a:r>
              <a:rPr lang="en-US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viewTranscript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3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1299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8602B-9E21-B8B9-07E5-D5F057604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6575"/>
          </a:xfrm>
        </p:spPr>
        <p:txBody>
          <a:bodyPr>
            <a:normAutofit/>
          </a:bodyPr>
          <a:lstStyle/>
          <a:p>
            <a:pPr algn="ctr"/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Continue…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D1510-E8DA-3536-1FFC-4E9985DE7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700"/>
            <a:ext cx="10515600" cy="5591175"/>
          </a:xfrm>
        </p:spPr>
        <p:txBody>
          <a:bodyPr>
            <a:normAutofit/>
          </a:bodyPr>
          <a:lstStyle/>
          <a:p>
            <a:pPr marL="2228850" lvl="5" indent="-285750"/>
            <a:r>
              <a:rPr 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Lecturer Class (inherits Person)</a:t>
            </a:r>
          </a:p>
          <a:p>
            <a:pPr marL="1943100" lvl="5" indent="0">
              <a:buNone/>
            </a:pPr>
            <a:r>
              <a:rPr 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Attributes:</a:t>
            </a:r>
            <a:endParaRPr lang="en-US" sz="1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43100" lvl="5" indent="0">
              <a:buNone/>
            </a:pPr>
            <a:r>
              <a:rPr lang="en-US" sz="16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lecturerID</a:t>
            </a:r>
            <a:endParaRPr lang="en-US" sz="1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43100" lvl="5" indent="0">
              <a:buNone/>
            </a:pPr>
            <a:r>
              <a:rPr 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Methods:</a:t>
            </a:r>
            <a:endParaRPr lang="en-US" sz="1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43100" lvl="5" indent="0">
              <a:buNone/>
            </a:pPr>
            <a:r>
              <a:rPr lang="en-US" sz="16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assignGrade</a:t>
            </a:r>
            <a:r>
              <a:rPr 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endParaRPr lang="en-US" sz="1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43100" lvl="5" indent="0">
              <a:buNone/>
            </a:pPr>
            <a:r>
              <a:rPr lang="en-US" sz="16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uploadResults</a:t>
            </a:r>
            <a:r>
              <a:rPr 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endParaRPr lang="en-US" sz="1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28850" lvl="5" indent="-285750"/>
            <a:r>
              <a:rPr 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Course Class</a:t>
            </a:r>
          </a:p>
          <a:p>
            <a:pPr marL="1943100" lvl="5" indent="0">
              <a:buNone/>
            </a:pPr>
            <a:r>
              <a:rPr 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Attributes:</a:t>
            </a:r>
            <a:endParaRPr lang="en-US" sz="1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43100" lvl="5" indent="0">
              <a:buNone/>
            </a:pPr>
            <a:r>
              <a:rPr lang="en-US" sz="16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courseCode</a:t>
            </a:r>
            <a:endParaRPr lang="en-US" sz="1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43100" lvl="5" indent="0">
              <a:buNone/>
            </a:pPr>
            <a:r>
              <a:rPr lang="en-US" sz="16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courseName</a:t>
            </a:r>
            <a:endParaRPr lang="en-US" sz="1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43100" lvl="5" indent="0">
              <a:buNone/>
            </a:pPr>
            <a:r>
              <a:rPr lang="en-US" sz="16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creditUnits</a:t>
            </a:r>
            <a:endParaRPr lang="en-US" sz="1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43100" lvl="5" indent="0">
              <a:buNone/>
            </a:pPr>
            <a:r>
              <a:rPr 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Methods:</a:t>
            </a:r>
            <a:endParaRPr lang="en-US" sz="1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43100" lvl="5" indent="0">
              <a:buNone/>
            </a:pPr>
            <a:r>
              <a:rPr lang="en-US" sz="16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addStudent</a:t>
            </a:r>
            <a:r>
              <a:rPr 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endParaRPr lang="en-US" sz="1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43100" lvl="5" indent="0">
              <a:buNone/>
            </a:pPr>
            <a:r>
              <a:rPr lang="en-US" sz="16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removeStudent</a:t>
            </a:r>
            <a:r>
              <a:rPr 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endParaRPr lang="en-US" sz="1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0" lvl="5" indent="0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7202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AD06C-4766-A251-1987-2E7F7A5CA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Steps to Implement Object-Oriented Modeling Using Class Diagrams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2542F-E62B-FFE5-EC6F-D139DB835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714500"/>
            <a:ext cx="8915400" cy="3777622"/>
          </a:xfrm>
        </p:spPr>
        <p:txBody>
          <a:bodyPr>
            <a:noAutofit/>
          </a:bodyPr>
          <a:lstStyle/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Requirement Analysis</a:t>
            </a:r>
            <a:b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system functionalities</a:t>
            </a:r>
            <a:endParaRPr lang="en-US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 Identification</a:t>
            </a:r>
            <a:b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Convert nouns from requirements into classes</a:t>
            </a:r>
            <a:endParaRPr lang="en-US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 Class Responsibilities</a:t>
            </a:r>
            <a:b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Decide what each class does</a:t>
            </a:r>
            <a:endParaRPr lang="en-US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Assign Attributes &amp; Methods</a:t>
            </a:r>
            <a:endParaRPr lang="en-US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 Relationships</a:t>
            </a:r>
            <a:b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Association, inheritance, aggregation, composition</a:t>
            </a:r>
            <a:endParaRPr lang="en-US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Validate the Model</a:t>
            </a:r>
            <a:b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Ensure it satisfies system requirements</a:t>
            </a:r>
            <a:endParaRPr lang="en-US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Diagram for Coding</a:t>
            </a:r>
            <a:endParaRPr lang="en-US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1902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DEAF7-F261-BCEE-54AF-A49ADECE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Role of Class Diagrams in Software Development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A76C6-8B30-8CDC-5A4D-D968F6856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>
            <a:normAutofit/>
          </a:bodyPr>
          <a:lstStyle/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Bridge between requirements and code</a:t>
            </a:r>
            <a:endParaRPr lang="en-US" sz="28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Guide database design</a:t>
            </a:r>
            <a:endParaRPr lang="en-US" sz="28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 team communication</a:t>
            </a:r>
            <a:endParaRPr lang="en-US" sz="28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Reduce design errors</a:t>
            </a:r>
            <a:endParaRPr lang="en-US" sz="28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Support scalable architecture</a:t>
            </a:r>
            <a:endParaRPr lang="en-US" sz="28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2375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F54AC-B19D-7646-B967-8F8587337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100" y="2641600"/>
            <a:ext cx="10515600" cy="787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END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198F5-0953-2483-0194-1E39BDA14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11500"/>
            <a:ext cx="10515600" cy="2628900"/>
          </a:xfrm>
        </p:spPr>
        <p:txBody>
          <a:bodyPr/>
          <a:lstStyle/>
          <a:p>
            <a:pPr marL="0" indent="0" algn="ctr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Your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9745269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92</TotalTime>
  <Words>741</Words>
  <Application>Microsoft Office PowerPoint</Application>
  <PresentationFormat>Widescreen</PresentationFormat>
  <Paragraphs>192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Cambria Math</vt:lpstr>
      <vt:lpstr>Century Gothic</vt:lpstr>
      <vt:lpstr>Times New Roman</vt:lpstr>
      <vt:lpstr>Wingdings 3</vt:lpstr>
      <vt:lpstr>Wisp</vt:lpstr>
      <vt:lpstr>PowerPoint Presentation</vt:lpstr>
      <vt:lpstr>1. Object-Oriented Modeling (OOM) — In Depth</vt:lpstr>
      <vt:lpstr>2. Core Object-Oriented Concepts Applied in Modeling</vt:lpstr>
      <vt:lpstr>Continue…</vt:lpstr>
      <vt:lpstr>Continue…</vt:lpstr>
      <vt:lpstr>Continue…</vt:lpstr>
      <vt:lpstr>3. Class Diagram — Technical Definition</vt:lpstr>
      <vt:lpstr>4. Detailed Components of a Class Diagram</vt:lpstr>
      <vt:lpstr>Continue…</vt:lpstr>
      <vt:lpstr>Continue…</vt:lpstr>
      <vt:lpstr>Continue…</vt:lpstr>
      <vt:lpstr>5. Relationships in Class Diagrams </vt:lpstr>
      <vt:lpstr>Continue…</vt:lpstr>
      <vt:lpstr>Continue… </vt:lpstr>
      <vt:lpstr> Full Example: Student Management System (Deep View)</vt:lpstr>
      <vt:lpstr>Continue…</vt:lpstr>
      <vt:lpstr>7. Steps to Implement Object-Oriented Modeling Using Class Diagrams</vt:lpstr>
      <vt:lpstr>8. Role of Class Diagrams in Software Development</vt:lpstr>
      <vt:lpstr>THE END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JAKA-MIREMBE</dc:creator>
  <cp:lastModifiedBy>JAKA-MIREMBE</cp:lastModifiedBy>
  <cp:revision>2</cp:revision>
  <dcterms:created xsi:type="dcterms:W3CDTF">2026-01-16T08:50:53Z</dcterms:created>
  <dcterms:modified xsi:type="dcterms:W3CDTF">2026-01-18T13:31:55Z</dcterms:modified>
</cp:coreProperties>
</file>