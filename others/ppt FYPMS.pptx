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7"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B52D8E-027C-4F4E-B554-080BDD4C8BD5}"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5B46A3-582A-49E2-9341-4E6EC54B08B9}" type="slidenum">
              <a:rPr lang="en-US" smtClean="0"/>
              <a:t>‹#›</a:t>
            </a:fld>
            <a:endParaRPr lang="en-US"/>
          </a:p>
        </p:txBody>
      </p:sp>
    </p:spTree>
    <p:extLst>
      <p:ext uri="{BB962C8B-B14F-4D97-AF65-F5344CB8AC3E}">
        <p14:creationId xmlns:p14="http://schemas.microsoft.com/office/powerpoint/2010/main" val="1914797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sz="4000" dirty="0"/>
          </a:p>
        </p:txBody>
      </p:sp>
      <p:sp>
        <p:nvSpPr>
          <p:cNvPr id="4" name="Slide Number Placeholder 3"/>
          <p:cNvSpPr>
            <a:spLocks noGrp="1"/>
          </p:cNvSpPr>
          <p:nvPr>
            <p:ph type="sldNum" sz="quarter" idx="5"/>
          </p:nvPr>
        </p:nvSpPr>
        <p:spPr/>
        <p:txBody>
          <a:bodyPr/>
          <a:lstStyle/>
          <a:p>
            <a:fld id="{835B46A3-582A-49E2-9341-4E6EC54B08B9}" type="slidenum">
              <a:rPr lang="en-US" smtClean="0"/>
              <a:t>1</a:t>
            </a:fld>
            <a:endParaRPr lang="en-US"/>
          </a:p>
        </p:txBody>
      </p:sp>
    </p:spTree>
    <p:extLst>
      <p:ext uri="{BB962C8B-B14F-4D97-AF65-F5344CB8AC3E}">
        <p14:creationId xmlns:p14="http://schemas.microsoft.com/office/powerpoint/2010/main" val="2203437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DA926-5919-000D-F79D-3E32D1450E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4FE7CF-614D-1E9D-365F-FC55948DB4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BB9991-7EB4-D9CF-B4F4-EEC88C50BC43}"/>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5" name="Footer Placeholder 4">
            <a:extLst>
              <a:ext uri="{FF2B5EF4-FFF2-40B4-BE49-F238E27FC236}">
                <a16:creationId xmlns:a16="http://schemas.microsoft.com/office/drawing/2014/main" id="{B71295C3-D3BE-5A16-307B-3249A1878F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511135-4CCE-0761-B328-CD320FA17EE4}"/>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1582180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F57F4-9C64-4054-6458-9967A123AF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570D5-8D29-E162-7D9C-1E8957A74C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0770B-B0A3-D564-231B-C03E62EEF6D1}"/>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5" name="Footer Placeholder 4">
            <a:extLst>
              <a:ext uri="{FF2B5EF4-FFF2-40B4-BE49-F238E27FC236}">
                <a16:creationId xmlns:a16="http://schemas.microsoft.com/office/drawing/2014/main" id="{8424AD58-FB5E-3EA7-14F3-E09E884D1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394BF3-E7B9-CAFC-5BB6-51413F16D2D3}"/>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1452257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E2A1-B5D1-15B5-867E-58FD8D224A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168BDB-E586-EDA4-990A-8B99430E06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7D99DB-A68B-D1E5-2E2A-373E364C2A75}"/>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5" name="Footer Placeholder 4">
            <a:extLst>
              <a:ext uri="{FF2B5EF4-FFF2-40B4-BE49-F238E27FC236}">
                <a16:creationId xmlns:a16="http://schemas.microsoft.com/office/drawing/2014/main" id="{0EB9DEF2-0DDF-94BD-61FF-576F28DBCC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06888A-740D-AA6F-3143-C25730612B16}"/>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2413637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AAEC6-D480-565F-B855-0F2C995219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57B50B-ED6F-B6A8-DAEC-957463AE92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8ADCB9-284A-080D-9B34-2FB5BBDB78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0EAB20-B235-5CA8-B9BA-B370AA6FD7EF}"/>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6" name="Footer Placeholder 5">
            <a:extLst>
              <a:ext uri="{FF2B5EF4-FFF2-40B4-BE49-F238E27FC236}">
                <a16:creationId xmlns:a16="http://schemas.microsoft.com/office/drawing/2014/main" id="{3AE768B3-A07D-3D94-A38A-EB58B0C63A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03F8AA-026E-4809-6C89-284E67BC4779}"/>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284562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1F7FF-B3DC-41E1-4FEC-2880B771B9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A5969E-5797-0050-420F-BF584529B1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B78BB-90D8-BF1A-8505-5C8B533471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63A481-036A-F8CB-AFA3-5C099D8D15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4941F8-4202-496A-C9B5-EE81BCC225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ED1D47-BC45-A77D-79E7-700392564934}"/>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8" name="Footer Placeholder 7">
            <a:extLst>
              <a:ext uri="{FF2B5EF4-FFF2-40B4-BE49-F238E27FC236}">
                <a16:creationId xmlns:a16="http://schemas.microsoft.com/office/drawing/2014/main" id="{58BD7FE3-0792-C5BB-17BA-C265448362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BEAC0C-0736-43F7-D070-6A1DE234880B}"/>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3467585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55447-448D-041B-E2DB-F1699B4D30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75E283-2349-81CE-3E9D-AE65D4556964}"/>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4" name="Footer Placeholder 3">
            <a:extLst>
              <a:ext uri="{FF2B5EF4-FFF2-40B4-BE49-F238E27FC236}">
                <a16:creationId xmlns:a16="http://schemas.microsoft.com/office/drawing/2014/main" id="{4BF2D078-1047-517A-FAF4-1908D8DFCB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5EFA41-7B51-7867-2004-F58CC14AD3D9}"/>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2258148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E94174-A716-E89B-E7B1-8500DF6398D6}"/>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3" name="Footer Placeholder 2">
            <a:extLst>
              <a:ext uri="{FF2B5EF4-FFF2-40B4-BE49-F238E27FC236}">
                <a16:creationId xmlns:a16="http://schemas.microsoft.com/office/drawing/2014/main" id="{16F57D37-3DAA-A65F-4338-21A7EBAFFE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290773-6EE5-E8E9-CCFC-61F3A2FD8A06}"/>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4110430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9C62-5302-538C-8233-3D9943190B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A55B00-EDDB-D15B-95D4-08F247A8F3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21AA7D-92AE-E42E-9350-CBC795C631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A66411-3DB7-6CF6-D1DD-74EFC946D409}"/>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6" name="Footer Placeholder 5">
            <a:extLst>
              <a:ext uri="{FF2B5EF4-FFF2-40B4-BE49-F238E27FC236}">
                <a16:creationId xmlns:a16="http://schemas.microsoft.com/office/drawing/2014/main" id="{64E5747B-5AC3-57D1-0A91-AD2A7A5C89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73C11F-FD4C-1644-98C3-8CEE757E69D8}"/>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1465325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DFFBB-924D-23C8-D56A-A5862C014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828D9E-F71F-EFA2-E055-F144361FC0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5AB691-06CD-4B6B-6EFB-AAE338F28A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1DB150-8FA9-68A0-0BB6-DD79FC608ECE}"/>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6" name="Footer Placeholder 5">
            <a:extLst>
              <a:ext uri="{FF2B5EF4-FFF2-40B4-BE49-F238E27FC236}">
                <a16:creationId xmlns:a16="http://schemas.microsoft.com/office/drawing/2014/main" id="{C4EA73E4-08FC-62AD-670A-B37BE49519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195EF3-057A-A89A-C7BD-5BD22F81737A}"/>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930671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31184-F056-C133-5087-5006D1F70B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D7E211-7F1A-CE9A-8351-583D4BE2B7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E56B34-1C77-41E1-F47E-CAE47C295826}"/>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5" name="Footer Placeholder 4">
            <a:extLst>
              <a:ext uri="{FF2B5EF4-FFF2-40B4-BE49-F238E27FC236}">
                <a16:creationId xmlns:a16="http://schemas.microsoft.com/office/drawing/2014/main" id="{045D1E02-42C9-186F-40F8-3FBEF1BB2C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64F6AA-40E4-2EF9-B309-7375B957CACA}"/>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919166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0EA416-1549-FFA6-FF47-F4982E61CA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67F9CB-3921-0A16-E0D4-C55E88195E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9777C-9701-0800-DEFE-F289F0CD7961}"/>
              </a:ext>
            </a:extLst>
          </p:cNvPr>
          <p:cNvSpPr>
            <a:spLocks noGrp="1"/>
          </p:cNvSpPr>
          <p:nvPr>
            <p:ph type="dt" sz="half" idx="10"/>
          </p:nvPr>
        </p:nvSpPr>
        <p:spPr/>
        <p:txBody>
          <a:bodyPr/>
          <a:lstStyle/>
          <a:p>
            <a:fld id="{A178898B-844F-40E7-8A85-CD057E5A6D5B}" type="datetimeFigureOut">
              <a:rPr lang="en-US" smtClean="0"/>
              <a:t>2/3/2026</a:t>
            </a:fld>
            <a:endParaRPr lang="en-US"/>
          </a:p>
        </p:txBody>
      </p:sp>
      <p:sp>
        <p:nvSpPr>
          <p:cNvPr id="5" name="Footer Placeholder 4">
            <a:extLst>
              <a:ext uri="{FF2B5EF4-FFF2-40B4-BE49-F238E27FC236}">
                <a16:creationId xmlns:a16="http://schemas.microsoft.com/office/drawing/2014/main" id="{E6FDA66B-6EE7-479E-E4A2-16F56F4ED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2C1D9D-3857-7FC0-9098-AAFE83A4050D}"/>
              </a:ext>
            </a:extLst>
          </p:cNvPr>
          <p:cNvSpPr>
            <a:spLocks noGrp="1"/>
          </p:cNvSpPr>
          <p:nvPr>
            <p:ph type="sldNum" sz="quarter" idx="12"/>
          </p:nvPr>
        </p:nvSpPr>
        <p:spPr/>
        <p:txBody>
          <a:bodyPr/>
          <a:lstStyle/>
          <a:p>
            <a:fld id="{2E83A18C-42D3-4C79-869B-AFA7C98C8770}" type="slidenum">
              <a:rPr lang="en-US" smtClean="0"/>
              <a:t>‹#›</a:t>
            </a:fld>
            <a:endParaRPr lang="en-US"/>
          </a:p>
        </p:txBody>
      </p:sp>
    </p:spTree>
    <p:extLst>
      <p:ext uri="{BB962C8B-B14F-4D97-AF65-F5344CB8AC3E}">
        <p14:creationId xmlns:p14="http://schemas.microsoft.com/office/powerpoint/2010/main" val="4061456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285A2D-8B71-8E11-0D57-24D38E6BB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A2BFD8-05EB-1933-1CF9-3297AA1368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DD40F2-BCE1-13B2-48E6-FCF7391F25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78898B-844F-40E7-8A85-CD057E5A6D5B}" type="datetimeFigureOut">
              <a:rPr lang="en-US" smtClean="0"/>
              <a:t>2/3/2026</a:t>
            </a:fld>
            <a:endParaRPr lang="en-US"/>
          </a:p>
        </p:txBody>
      </p:sp>
      <p:sp>
        <p:nvSpPr>
          <p:cNvPr id="5" name="Footer Placeholder 4">
            <a:extLst>
              <a:ext uri="{FF2B5EF4-FFF2-40B4-BE49-F238E27FC236}">
                <a16:creationId xmlns:a16="http://schemas.microsoft.com/office/drawing/2014/main" id="{20072AF3-3D98-48C5-FB79-6D89E18F3B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B52581-90E1-B077-F086-51598EE867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83A18C-42D3-4C79-869B-AFA7C98C8770}" type="slidenum">
              <a:rPr lang="en-US" smtClean="0"/>
              <a:t>‹#›</a:t>
            </a:fld>
            <a:endParaRPr lang="en-US"/>
          </a:p>
        </p:txBody>
      </p:sp>
    </p:spTree>
    <p:extLst>
      <p:ext uri="{BB962C8B-B14F-4D97-AF65-F5344CB8AC3E}">
        <p14:creationId xmlns:p14="http://schemas.microsoft.com/office/powerpoint/2010/main" val="2519509843"/>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25E32-13A2-54CF-401A-09CDC8AA2304}"/>
              </a:ext>
            </a:extLst>
          </p:cNvPr>
          <p:cNvSpPr>
            <a:spLocks noGrp="1"/>
          </p:cNvSpPr>
          <p:nvPr>
            <p:ph type="ctrTitle"/>
          </p:nvPr>
        </p:nvSpPr>
        <p:spPr>
          <a:xfrm>
            <a:off x="1524000" y="190501"/>
            <a:ext cx="9144000" cy="1833171"/>
          </a:xfrm>
        </p:spPr>
        <p:txBody>
          <a:bodyPr>
            <a:normAutofit/>
          </a:bodyPr>
          <a:lstStyle/>
          <a:p>
            <a:pPr algn="l"/>
            <a:r>
              <a:rPr lang="en-US" sz="4400" b="1" dirty="0">
                <a:solidFill>
                  <a:srgbClr val="C00000"/>
                </a:solidFill>
                <a:latin typeface="+mn-lt"/>
                <a:cs typeface="Arial" panose="020B0604020202020204" pitchFamily="34" charset="0"/>
              </a:rPr>
              <a:t>Particulars and  Project Information</a:t>
            </a:r>
          </a:p>
        </p:txBody>
      </p:sp>
      <p:sp>
        <p:nvSpPr>
          <p:cNvPr id="3" name="Subtitle 2">
            <a:extLst>
              <a:ext uri="{FF2B5EF4-FFF2-40B4-BE49-F238E27FC236}">
                <a16:creationId xmlns:a16="http://schemas.microsoft.com/office/drawing/2014/main" id="{9A838AD6-2EE5-F9DC-5BB2-A4819EDE4F8D}"/>
              </a:ext>
            </a:extLst>
          </p:cNvPr>
          <p:cNvSpPr>
            <a:spLocks noGrp="1"/>
          </p:cNvSpPr>
          <p:nvPr>
            <p:ph type="subTitle" idx="1"/>
          </p:nvPr>
        </p:nvSpPr>
        <p:spPr>
          <a:xfrm>
            <a:off x="0" y="2218544"/>
            <a:ext cx="12052300" cy="4122295"/>
          </a:xfrm>
        </p:spPr>
        <p:txBody>
          <a:bodyPr>
            <a:noAutofit/>
          </a:bodyPr>
          <a:lstStyle/>
          <a:p>
            <a:pPr algn="l"/>
            <a:r>
              <a:rPr lang="en-US" sz="2800" b="1" dirty="0">
                <a:latin typeface="Arial" panose="020B0604020202020204" pitchFamily="34" charset="0"/>
                <a:cs typeface="Arial" panose="020B0604020202020204" pitchFamily="34" charset="0"/>
              </a:rPr>
              <a:t>STUDENT NAME:                  </a:t>
            </a:r>
            <a:r>
              <a:rPr lang="en-US" sz="2800" dirty="0">
                <a:latin typeface="Arial" panose="020B0604020202020204" pitchFamily="34" charset="0"/>
                <a:cs typeface="Arial" panose="020B0604020202020204" pitchFamily="34" charset="0"/>
              </a:rPr>
              <a:t>REHEMA SUFIANI MSAGATI</a:t>
            </a:r>
          </a:p>
          <a:p>
            <a:pPr algn="l"/>
            <a:r>
              <a:rPr lang="en-US" sz="2800" b="1" dirty="0">
                <a:latin typeface="Arial" panose="020B0604020202020204" pitchFamily="34" charset="0"/>
                <a:cs typeface="Arial" panose="020B0604020202020204" pitchFamily="34" charset="0"/>
              </a:rPr>
              <a:t>REGISTRATION NUMBER:   </a:t>
            </a:r>
            <a:r>
              <a:rPr lang="en-US" sz="2800" dirty="0">
                <a:latin typeface="Arial" panose="020B0604020202020204" pitchFamily="34" charset="0"/>
                <a:cs typeface="Arial" panose="020B0604020202020204" pitchFamily="34" charset="0"/>
              </a:rPr>
              <a:t>NIT/BIT/2023/2042</a:t>
            </a:r>
          </a:p>
          <a:p>
            <a:pPr algn="l"/>
            <a:r>
              <a:rPr lang="en-US" sz="2800" b="1" dirty="0">
                <a:latin typeface="Arial" panose="020B0604020202020204" pitchFamily="34" charset="0"/>
                <a:cs typeface="Arial" panose="020B0604020202020204" pitchFamily="34" charset="0"/>
              </a:rPr>
              <a:t>SUPERVISOR NAME:            </a:t>
            </a:r>
            <a:r>
              <a:rPr lang="en-US" sz="2800" dirty="0">
                <a:latin typeface="Arial" panose="020B0604020202020204" pitchFamily="34" charset="0"/>
                <a:cs typeface="Arial" panose="020B0604020202020204" pitchFamily="34" charset="0"/>
              </a:rPr>
              <a:t>MISS. JOYCE RINGO</a:t>
            </a:r>
          </a:p>
          <a:p>
            <a:pPr algn="l"/>
            <a:r>
              <a:rPr lang="en-US" sz="2800" b="1" dirty="0">
                <a:latin typeface="Arial" panose="020B0604020202020204" pitchFamily="34" charset="0"/>
                <a:cs typeface="Arial" panose="020B0604020202020204" pitchFamily="34" charset="0"/>
              </a:rPr>
              <a:t>TITLE NAME:                         </a:t>
            </a:r>
            <a:r>
              <a:rPr lang="en-US" sz="2800" dirty="0">
                <a:latin typeface="Arial" panose="020B0604020202020204" pitchFamily="34" charset="0"/>
                <a:cs typeface="Arial" panose="020B0604020202020204" pitchFamily="34" charset="0"/>
              </a:rPr>
              <a:t>UNIVERISITY FINAL YEAR PROJECT MANAGEMENT SYSTEM</a:t>
            </a:r>
          </a:p>
          <a:p>
            <a:pPr algn="l"/>
            <a:r>
              <a:rPr lang="en-US" sz="2800" b="1" dirty="0">
                <a:latin typeface="Arial" panose="020B0604020202020204" pitchFamily="34" charset="0"/>
                <a:cs typeface="Arial" panose="020B0604020202020204" pitchFamily="34" charset="0"/>
              </a:rPr>
              <a:t>PROJECT TYPE:                     </a:t>
            </a:r>
            <a:r>
              <a:rPr lang="en-US" sz="2800" dirty="0">
                <a:latin typeface="Arial" panose="020B0604020202020204" pitchFamily="34" charset="0"/>
                <a:cs typeface="Arial" panose="020B0604020202020204" pitchFamily="34" charset="0"/>
              </a:rPr>
              <a:t>SOFTWARE DEVELOPMENT</a:t>
            </a:r>
          </a:p>
        </p:txBody>
      </p:sp>
    </p:spTree>
    <p:extLst>
      <p:ext uri="{BB962C8B-B14F-4D97-AF65-F5344CB8AC3E}">
        <p14:creationId xmlns:p14="http://schemas.microsoft.com/office/powerpoint/2010/main" val="2386139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AEC41-3495-FCD1-2A47-1BEDE552D509}"/>
              </a:ext>
            </a:extLst>
          </p:cNvPr>
          <p:cNvSpPr>
            <a:spLocks noGrp="1"/>
          </p:cNvSpPr>
          <p:nvPr>
            <p:ph type="title"/>
          </p:nvPr>
        </p:nvSpPr>
        <p:spPr/>
        <p:txBody>
          <a:bodyPr/>
          <a:lstStyle/>
          <a:p>
            <a:r>
              <a:rPr lang="en-US" b="1" dirty="0">
                <a:solidFill>
                  <a:srgbClr val="C00000"/>
                </a:solidFill>
                <a:latin typeface="+mn-lt"/>
              </a:rPr>
              <a:t>Background</a:t>
            </a:r>
          </a:p>
        </p:txBody>
      </p:sp>
      <p:sp>
        <p:nvSpPr>
          <p:cNvPr id="3" name="Content Placeholder 2">
            <a:extLst>
              <a:ext uri="{FF2B5EF4-FFF2-40B4-BE49-F238E27FC236}">
                <a16:creationId xmlns:a16="http://schemas.microsoft.com/office/drawing/2014/main" id="{CD27D3E6-862A-2DE0-61AA-72201473084A}"/>
              </a:ext>
            </a:extLst>
          </p:cNvPr>
          <p:cNvSpPr>
            <a:spLocks noGrp="1"/>
          </p:cNvSpPr>
          <p:nvPr>
            <p:ph idx="1"/>
          </p:nvPr>
        </p:nvSpPr>
        <p:spPr/>
        <p:txBody>
          <a:bodyPr>
            <a:normAutofit/>
          </a:bodyPr>
          <a:lstStyle/>
          <a:p>
            <a:pPr marL="0" indent="0">
              <a:buNone/>
            </a:pPr>
            <a:r>
              <a:rPr lang="en-US" dirty="0"/>
              <a:t>Final Year Project (FYP) management is an essential academic activity in higher learning institutions where students submit and complete projects under supervisor guidance. Many institutions use web-based portals to store and manage project records digitally.</a:t>
            </a:r>
          </a:p>
          <a:p>
            <a:pPr marL="0" indent="0">
              <a:buNone/>
            </a:pPr>
            <a:r>
              <a:rPr lang="en-US" dirty="0"/>
              <a:t> However, as the number of projects increases every year, monitoring project originality becomes more difficult. In most cases, checking for duplicate or similar project topics is done manually, which is slow and prone to human error. This may lead to repeated ideas and reduced project quality. Therefore, effective digital management of final year projects is increasingly important in modern academic institutions.</a:t>
            </a:r>
          </a:p>
          <a:p>
            <a:pPr marL="0" indent="0">
              <a:buNone/>
            </a:pPr>
            <a:endParaRPr lang="en-US" dirty="0"/>
          </a:p>
        </p:txBody>
      </p:sp>
    </p:spTree>
    <p:extLst>
      <p:ext uri="{BB962C8B-B14F-4D97-AF65-F5344CB8AC3E}">
        <p14:creationId xmlns:p14="http://schemas.microsoft.com/office/powerpoint/2010/main" val="302985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F5616-89CC-A357-EAF9-CB6BD9B41615}"/>
              </a:ext>
            </a:extLst>
          </p:cNvPr>
          <p:cNvSpPr>
            <a:spLocks noGrp="1"/>
          </p:cNvSpPr>
          <p:nvPr>
            <p:ph type="title"/>
          </p:nvPr>
        </p:nvSpPr>
        <p:spPr/>
        <p:txBody>
          <a:bodyPr/>
          <a:lstStyle/>
          <a:p>
            <a:r>
              <a:rPr lang="en-US" b="1" dirty="0">
                <a:solidFill>
                  <a:srgbClr val="C00000"/>
                </a:solidFill>
                <a:latin typeface="+mn-lt"/>
              </a:rPr>
              <a:t>Problem statement</a:t>
            </a:r>
          </a:p>
        </p:txBody>
      </p:sp>
      <p:sp>
        <p:nvSpPr>
          <p:cNvPr id="3" name="Content Placeholder 2">
            <a:extLst>
              <a:ext uri="{FF2B5EF4-FFF2-40B4-BE49-F238E27FC236}">
                <a16:creationId xmlns:a16="http://schemas.microsoft.com/office/drawing/2014/main" id="{F7DEFB58-D9F7-65C2-907C-DFC276A472EC}"/>
              </a:ext>
            </a:extLst>
          </p:cNvPr>
          <p:cNvSpPr>
            <a:spLocks noGrp="1"/>
          </p:cNvSpPr>
          <p:nvPr>
            <p:ph idx="1"/>
          </p:nvPr>
        </p:nvSpPr>
        <p:spPr/>
        <p:txBody>
          <a:bodyPr/>
          <a:lstStyle/>
          <a:p>
            <a:pPr marL="0" indent="0">
              <a:buNone/>
            </a:pPr>
            <a:r>
              <a:rPr lang="en-US" dirty="0"/>
              <a:t>At a higher learning institution, the final year project portal allows students to submit project titles and objectives electronically, but the system relies on manual checking to detect duplicate projects. This manual process is slow, time-consuming, and prone to human errors, which may result in repeated or very similar project topics being approved.</a:t>
            </a:r>
          </a:p>
        </p:txBody>
      </p:sp>
    </p:spTree>
    <p:extLst>
      <p:ext uri="{BB962C8B-B14F-4D97-AF65-F5344CB8AC3E}">
        <p14:creationId xmlns:p14="http://schemas.microsoft.com/office/powerpoint/2010/main" val="589545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FADA8-C7E4-A99B-E184-DAAC93DE65BF}"/>
              </a:ext>
            </a:extLst>
          </p:cNvPr>
          <p:cNvSpPr>
            <a:spLocks noGrp="1"/>
          </p:cNvSpPr>
          <p:nvPr>
            <p:ph type="title"/>
          </p:nvPr>
        </p:nvSpPr>
        <p:spPr/>
        <p:txBody>
          <a:bodyPr/>
          <a:lstStyle/>
          <a:p>
            <a:r>
              <a:rPr lang="en-US" b="1" dirty="0">
                <a:solidFill>
                  <a:srgbClr val="C00000"/>
                </a:solidFill>
                <a:latin typeface="+mn-lt"/>
              </a:rPr>
              <a:t>Significance of the project</a:t>
            </a:r>
          </a:p>
        </p:txBody>
      </p:sp>
      <p:sp>
        <p:nvSpPr>
          <p:cNvPr id="3" name="Content Placeholder 2">
            <a:extLst>
              <a:ext uri="{FF2B5EF4-FFF2-40B4-BE49-F238E27FC236}">
                <a16:creationId xmlns:a16="http://schemas.microsoft.com/office/drawing/2014/main" id="{A21E730A-228C-AFF8-B8B8-9F2A9494C275}"/>
              </a:ext>
            </a:extLst>
          </p:cNvPr>
          <p:cNvSpPr>
            <a:spLocks noGrp="1"/>
          </p:cNvSpPr>
          <p:nvPr>
            <p:ph idx="1"/>
          </p:nvPr>
        </p:nvSpPr>
        <p:spPr/>
        <p:txBody>
          <a:bodyPr/>
          <a:lstStyle/>
          <a:p>
            <a:pPr marL="0" indent="0">
              <a:buNone/>
            </a:pPr>
            <a:r>
              <a:rPr lang="en-US" dirty="0"/>
              <a:t>University final year project management system will help to  ensure originality by automatically detecting duplicate or similar project titles and objectives, saving time for administrators by reducing manual checks. It also improves coordination by  allowing students to view fellow students assigned to the same mentor. Additionally, it enhances overall project management by storing past projects and tracking submissions efficiently, promoting organization and better supervision within the portal.</a:t>
            </a:r>
          </a:p>
        </p:txBody>
      </p:sp>
    </p:spTree>
    <p:extLst>
      <p:ext uri="{BB962C8B-B14F-4D97-AF65-F5344CB8AC3E}">
        <p14:creationId xmlns:p14="http://schemas.microsoft.com/office/powerpoint/2010/main" val="346386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0691-0C18-0B91-6933-1ADE75F74731}"/>
              </a:ext>
            </a:extLst>
          </p:cNvPr>
          <p:cNvSpPr>
            <a:spLocks noGrp="1"/>
          </p:cNvSpPr>
          <p:nvPr>
            <p:ph type="title"/>
          </p:nvPr>
        </p:nvSpPr>
        <p:spPr/>
        <p:txBody>
          <a:bodyPr/>
          <a:lstStyle/>
          <a:p>
            <a:r>
              <a:rPr lang="en-US" b="1" dirty="0">
                <a:solidFill>
                  <a:srgbClr val="C00000"/>
                </a:solidFill>
                <a:latin typeface="+mn-lt"/>
              </a:rPr>
              <a:t>Main objectives</a:t>
            </a:r>
          </a:p>
        </p:txBody>
      </p:sp>
      <p:sp>
        <p:nvSpPr>
          <p:cNvPr id="3" name="Content Placeholder 2">
            <a:extLst>
              <a:ext uri="{FF2B5EF4-FFF2-40B4-BE49-F238E27FC236}">
                <a16:creationId xmlns:a16="http://schemas.microsoft.com/office/drawing/2014/main" id="{1AADA7EF-4733-28EF-0286-DB32F1D6A8EC}"/>
              </a:ext>
            </a:extLst>
          </p:cNvPr>
          <p:cNvSpPr>
            <a:spLocks noGrp="1"/>
          </p:cNvSpPr>
          <p:nvPr>
            <p:ph idx="1"/>
          </p:nvPr>
        </p:nvSpPr>
        <p:spPr/>
        <p:txBody>
          <a:bodyPr/>
          <a:lstStyle/>
          <a:p>
            <a:pPr marL="0" indent="0">
              <a:buNone/>
            </a:pPr>
            <a:r>
              <a:rPr lang="en-US" dirty="0"/>
              <a:t>To develop a university final year project management system that automatically performs duplicate and similarity detection of project titles and objectives.</a:t>
            </a:r>
          </a:p>
        </p:txBody>
      </p:sp>
    </p:spTree>
    <p:extLst>
      <p:ext uri="{BB962C8B-B14F-4D97-AF65-F5344CB8AC3E}">
        <p14:creationId xmlns:p14="http://schemas.microsoft.com/office/powerpoint/2010/main" val="1467475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E9DB3-4299-B578-EC8A-861979E382D2}"/>
              </a:ext>
            </a:extLst>
          </p:cNvPr>
          <p:cNvSpPr>
            <a:spLocks noGrp="1"/>
          </p:cNvSpPr>
          <p:nvPr>
            <p:ph type="title"/>
          </p:nvPr>
        </p:nvSpPr>
        <p:spPr/>
        <p:txBody>
          <a:bodyPr/>
          <a:lstStyle/>
          <a:p>
            <a:r>
              <a:rPr lang="en-US" b="1" dirty="0">
                <a:solidFill>
                  <a:srgbClr val="C00000"/>
                </a:solidFill>
                <a:latin typeface="+mn-lt"/>
              </a:rPr>
              <a:t>Specific Objectives</a:t>
            </a:r>
          </a:p>
        </p:txBody>
      </p:sp>
      <p:sp>
        <p:nvSpPr>
          <p:cNvPr id="3" name="Content Placeholder 2">
            <a:extLst>
              <a:ext uri="{FF2B5EF4-FFF2-40B4-BE49-F238E27FC236}">
                <a16:creationId xmlns:a16="http://schemas.microsoft.com/office/drawing/2014/main" id="{D4F2B08F-1397-5317-3A58-F27D97827640}"/>
              </a:ext>
            </a:extLst>
          </p:cNvPr>
          <p:cNvSpPr>
            <a:spLocks noGrp="1"/>
          </p:cNvSpPr>
          <p:nvPr>
            <p:ph idx="1"/>
          </p:nvPr>
        </p:nvSpPr>
        <p:spPr/>
        <p:txBody>
          <a:bodyPr/>
          <a:lstStyle/>
          <a:p>
            <a:r>
              <a:rPr lang="en-US" dirty="0"/>
              <a:t>To design a databases system to store project details, mentor assignment and student data.</a:t>
            </a:r>
          </a:p>
          <a:p>
            <a:r>
              <a:rPr lang="en-US" dirty="0"/>
              <a:t>To implement duplicate check algorithms that automatically detect similar project tittles and objectives by integrating TF-IDF, Levenshtein and SBERT</a:t>
            </a:r>
          </a:p>
          <a:p>
            <a:r>
              <a:rPr lang="en-US" dirty="0"/>
              <a:t>To implement system mechanism that preprocess and store project tittles and objectives for hybrid similarity detection.</a:t>
            </a:r>
          </a:p>
          <a:p>
            <a:r>
              <a:rPr lang="en-US" dirty="0"/>
              <a:t>To develop a feature that allows students to view other students assigned to the same mentor.</a:t>
            </a:r>
          </a:p>
        </p:txBody>
      </p:sp>
    </p:spTree>
    <p:extLst>
      <p:ext uri="{BB962C8B-B14F-4D97-AF65-F5344CB8AC3E}">
        <p14:creationId xmlns:p14="http://schemas.microsoft.com/office/powerpoint/2010/main" val="2025911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7C193-930A-2D3F-FB31-12E045AD8C08}"/>
              </a:ext>
            </a:extLst>
          </p:cNvPr>
          <p:cNvSpPr>
            <a:spLocks noGrp="1"/>
          </p:cNvSpPr>
          <p:nvPr>
            <p:ph type="title"/>
          </p:nvPr>
        </p:nvSpPr>
        <p:spPr/>
        <p:txBody>
          <a:bodyPr/>
          <a:lstStyle/>
          <a:p>
            <a:r>
              <a:rPr lang="en-US" b="1" dirty="0">
                <a:solidFill>
                  <a:srgbClr val="C00000"/>
                </a:solidFill>
                <a:latin typeface="+mn-lt"/>
              </a:rPr>
              <a:t>Scope of the Project</a:t>
            </a:r>
          </a:p>
        </p:txBody>
      </p:sp>
      <p:sp>
        <p:nvSpPr>
          <p:cNvPr id="3" name="Content Placeholder 2">
            <a:extLst>
              <a:ext uri="{FF2B5EF4-FFF2-40B4-BE49-F238E27FC236}">
                <a16:creationId xmlns:a16="http://schemas.microsoft.com/office/drawing/2014/main" id="{7D9F09C8-B743-9E0F-EC87-4BCC16785730}"/>
              </a:ext>
            </a:extLst>
          </p:cNvPr>
          <p:cNvSpPr>
            <a:spLocks noGrp="1"/>
          </p:cNvSpPr>
          <p:nvPr>
            <p:ph idx="1"/>
          </p:nvPr>
        </p:nvSpPr>
        <p:spPr/>
        <p:txBody>
          <a:bodyPr/>
          <a:lstStyle/>
          <a:p>
            <a:pPr marL="0" indent="0">
              <a:buNone/>
            </a:pPr>
            <a:r>
              <a:rPr lang="en-US" dirty="0"/>
              <a:t>Project  will focus on design and implementation of web-based project management system and duplicate detection system for final year in National Institute of Transport (NIT) CCT department. The project will also cover a three-years period, including the current academic year.</a:t>
            </a:r>
          </a:p>
          <a:p>
            <a:pPr marL="0" indent="0">
              <a:buNone/>
            </a:pPr>
            <a:endParaRPr lang="en-US" dirty="0"/>
          </a:p>
        </p:txBody>
      </p:sp>
    </p:spTree>
    <p:extLst>
      <p:ext uri="{BB962C8B-B14F-4D97-AF65-F5344CB8AC3E}">
        <p14:creationId xmlns:p14="http://schemas.microsoft.com/office/powerpoint/2010/main" val="3563846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014C4-2755-D6A1-2654-2A424BF4E1E2}"/>
              </a:ext>
            </a:extLst>
          </p:cNvPr>
          <p:cNvSpPr>
            <a:spLocks noGrp="1"/>
          </p:cNvSpPr>
          <p:nvPr>
            <p:ph type="title"/>
          </p:nvPr>
        </p:nvSpPr>
        <p:spPr/>
        <p:txBody>
          <a:bodyPr/>
          <a:lstStyle/>
          <a:p>
            <a:r>
              <a:rPr lang="en-US" b="1" dirty="0">
                <a:solidFill>
                  <a:srgbClr val="C00000"/>
                </a:solidFill>
                <a:latin typeface="+mn-lt"/>
              </a:rPr>
              <a:t>Introduction to the Literature Review</a:t>
            </a:r>
          </a:p>
        </p:txBody>
      </p:sp>
      <p:sp>
        <p:nvSpPr>
          <p:cNvPr id="3" name="Content Placeholder 2">
            <a:extLst>
              <a:ext uri="{FF2B5EF4-FFF2-40B4-BE49-F238E27FC236}">
                <a16:creationId xmlns:a16="http://schemas.microsoft.com/office/drawing/2014/main" id="{696598EA-942F-5B6D-ED3B-60E3A1A6944E}"/>
              </a:ext>
            </a:extLst>
          </p:cNvPr>
          <p:cNvSpPr>
            <a:spLocks noGrp="1"/>
          </p:cNvSpPr>
          <p:nvPr>
            <p:ph idx="1"/>
          </p:nvPr>
        </p:nvSpPr>
        <p:spPr/>
        <p:txBody>
          <a:bodyPr/>
          <a:lstStyle/>
          <a:p>
            <a:pPr marL="0" indent="0">
              <a:buNone/>
            </a:pPr>
            <a:r>
              <a:rPr lang="en-US" dirty="0"/>
              <a:t>Several studies and systems have been developed to manage final year project activities such as title submission, project registration, mentor allocation, and project tracking. These systems help to reduce manual work, improve accuracy, and enhance efficiency in handling student projects through the use of online project management portals. </a:t>
            </a:r>
          </a:p>
          <a:p>
            <a:pPr marL="0" indent="0">
              <a:buNone/>
            </a:pPr>
            <a:r>
              <a:rPr lang="en-US" dirty="0"/>
              <a:t>This literature review discusses existing project management systems and similarity detection approaches and identifies the gaps that the proposed system intends to address.</a:t>
            </a:r>
          </a:p>
          <a:p>
            <a:pPr marL="0" indent="0">
              <a:buNone/>
            </a:pPr>
            <a:endParaRPr lang="en-US" dirty="0"/>
          </a:p>
        </p:txBody>
      </p:sp>
    </p:spTree>
    <p:extLst>
      <p:ext uri="{BB962C8B-B14F-4D97-AF65-F5344CB8AC3E}">
        <p14:creationId xmlns:p14="http://schemas.microsoft.com/office/powerpoint/2010/main" val="4032332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D99-E2F5-F96E-280F-9E09730B9EA7}"/>
              </a:ext>
            </a:extLst>
          </p:cNvPr>
          <p:cNvSpPr>
            <a:spLocks noGrp="1"/>
          </p:cNvSpPr>
          <p:nvPr>
            <p:ph type="title"/>
          </p:nvPr>
        </p:nvSpPr>
        <p:spPr/>
        <p:txBody>
          <a:bodyPr/>
          <a:lstStyle/>
          <a:p>
            <a:r>
              <a:rPr lang="en-US" b="1" dirty="0">
                <a:solidFill>
                  <a:srgbClr val="C00000"/>
                </a:solidFill>
                <a:latin typeface="+mn-lt"/>
              </a:rPr>
              <a:t>Review of Existing Studies and System</a:t>
            </a:r>
          </a:p>
        </p:txBody>
      </p:sp>
      <p:sp>
        <p:nvSpPr>
          <p:cNvPr id="3" name="Content Placeholder 2">
            <a:extLst>
              <a:ext uri="{FF2B5EF4-FFF2-40B4-BE49-F238E27FC236}">
                <a16:creationId xmlns:a16="http://schemas.microsoft.com/office/drawing/2014/main" id="{2E239A21-54FA-8FC8-3142-7EEB2AAB7EDF}"/>
              </a:ext>
            </a:extLst>
          </p:cNvPr>
          <p:cNvSpPr>
            <a:spLocks noGrp="1"/>
          </p:cNvSpPr>
          <p:nvPr>
            <p:ph idx="1"/>
          </p:nvPr>
        </p:nvSpPr>
        <p:spPr>
          <a:xfrm>
            <a:off x="673308" y="2035488"/>
            <a:ext cx="10515600" cy="4351338"/>
          </a:xfrm>
        </p:spPr>
        <p:txBody>
          <a:bodyPr>
            <a:normAutofit lnSpcReduction="10000"/>
          </a:bodyPr>
          <a:lstStyle/>
          <a:p>
            <a:pPr marL="0" indent="0">
              <a:buNone/>
            </a:pPr>
            <a:r>
              <a:rPr lang="en-US" dirty="0"/>
              <a:t>The National Institute of Transport (NIT) Final Year Project Portal is a web-based system that allows students to submit project titles, objectives, and descriptions online, while viewing mentor assignments, panel comments, and marks. It was developed to reduce manual submission challenges and improve project tracking using web technologies and a database system.</a:t>
            </a:r>
          </a:p>
          <a:p>
            <a:pPr marL="0" indent="0">
              <a:buNone/>
            </a:pPr>
            <a:r>
              <a:rPr lang="en-US" dirty="0"/>
              <a:t>Soyemi &amp; Isinkaye (2017) developed an academic project duplication detection system to automatically identify repeated or highly similar project titles. Where new project titles are compared against existing titles in a MySQL database using SQL queries. The system detects duplication by matching keywords and structure to alert supervisors about repeated projects.</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36543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FCA66-B7DB-B6F7-8105-E849EAA42086}"/>
              </a:ext>
            </a:extLst>
          </p:cNvPr>
          <p:cNvSpPr>
            <a:spLocks noGrp="1"/>
          </p:cNvSpPr>
          <p:nvPr>
            <p:ph type="title"/>
          </p:nvPr>
        </p:nvSpPr>
        <p:spPr/>
        <p:txBody>
          <a:bodyPr/>
          <a:lstStyle/>
          <a:p>
            <a:r>
              <a:rPr lang="en-US" b="1" dirty="0">
                <a:solidFill>
                  <a:srgbClr val="C00000"/>
                </a:solidFill>
                <a:latin typeface="+mn-lt"/>
              </a:rPr>
              <a:t>Review of Existing Studies and System continued…</a:t>
            </a:r>
            <a:endParaRPr lang="en-US" dirty="0">
              <a:latin typeface="+mn-lt"/>
            </a:endParaRPr>
          </a:p>
        </p:txBody>
      </p:sp>
      <p:sp>
        <p:nvSpPr>
          <p:cNvPr id="3" name="Content Placeholder 2">
            <a:extLst>
              <a:ext uri="{FF2B5EF4-FFF2-40B4-BE49-F238E27FC236}">
                <a16:creationId xmlns:a16="http://schemas.microsoft.com/office/drawing/2014/main" id="{596012EC-0E09-5F84-A529-CD01452943FB}"/>
              </a:ext>
            </a:extLst>
          </p:cNvPr>
          <p:cNvSpPr>
            <a:spLocks noGrp="1"/>
          </p:cNvSpPr>
          <p:nvPr>
            <p:ph idx="1"/>
          </p:nvPr>
        </p:nvSpPr>
        <p:spPr>
          <a:xfrm>
            <a:off x="838200" y="1702503"/>
            <a:ext cx="10515600" cy="4351338"/>
          </a:xfrm>
        </p:spPr>
        <p:txBody>
          <a:bodyPr/>
          <a:lstStyle/>
          <a:p>
            <a:pPr marL="0" indent="0">
              <a:buNone/>
            </a:pPr>
            <a:r>
              <a:rPr lang="en-US" dirty="0"/>
              <a:t>Raznida Isa et al. (2025) proposed a centralized online project management platform for final year projects. This system allowed supervisors to monitor student progress, track submissions, and access all project records from a single platform. It solved the inefficiency of manual project tracking and used web technologies for data management and user interaction.</a:t>
            </a:r>
          </a:p>
          <a:p>
            <a:pPr marL="0" indent="0">
              <a:buNone/>
            </a:pPr>
            <a:endParaRPr lang="en-US" dirty="0"/>
          </a:p>
        </p:txBody>
      </p:sp>
    </p:spTree>
    <p:extLst>
      <p:ext uri="{BB962C8B-B14F-4D97-AF65-F5344CB8AC3E}">
        <p14:creationId xmlns:p14="http://schemas.microsoft.com/office/powerpoint/2010/main" val="2736260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B45E1-1A40-80F2-8BE2-E7F374732287}"/>
              </a:ext>
            </a:extLst>
          </p:cNvPr>
          <p:cNvSpPr>
            <a:spLocks noGrp="1"/>
          </p:cNvSpPr>
          <p:nvPr>
            <p:ph type="title"/>
          </p:nvPr>
        </p:nvSpPr>
        <p:spPr/>
        <p:txBody>
          <a:bodyPr/>
          <a:lstStyle/>
          <a:p>
            <a:r>
              <a:rPr lang="en-US" b="1" dirty="0">
                <a:solidFill>
                  <a:srgbClr val="C00000"/>
                </a:solidFill>
                <a:latin typeface="+mn-lt"/>
              </a:rPr>
              <a:t>Identified Gaps in Existing System</a:t>
            </a:r>
          </a:p>
        </p:txBody>
      </p:sp>
      <p:sp>
        <p:nvSpPr>
          <p:cNvPr id="3" name="Content Placeholder 2">
            <a:extLst>
              <a:ext uri="{FF2B5EF4-FFF2-40B4-BE49-F238E27FC236}">
                <a16:creationId xmlns:a16="http://schemas.microsoft.com/office/drawing/2014/main" id="{AC3B6A66-CE3D-B31D-8F5B-B497CDEFD89E}"/>
              </a:ext>
            </a:extLst>
          </p:cNvPr>
          <p:cNvSpPr>
            <a:spLocks noGrp="1"/>
          </p:cNvSpPr>
          <p:nvPr>
            <p:ph idx="1"/>
          </p:nvPr>
        </p:nvSpPr>
        <p:spPr/>
        <p:txBody>
          <a:bodyPr>
            <a:normAutofit lnSpcReduction="10000"/>
          </a:bodyPr>
          <a:lstStyle/>
          <a:p>
            <a:pPr marL="0" indent="0">
              <a:buNone/>
            </a:pPr>
            <a:r>
              <a:rPr lang="en-US" dirty="0"/>
              <a:t>From the reviewed literature, it is evident that many existing final year project portals focus mainly on project submission and record keeping. However most systems lack:</a:t>
            </a:r>
            <a:br>
              <a:rPr lang="en-US" dirty="0"/>
            </a:br>
            <a:r>
              <a:rPr lang="en-US" dirty="0"/>
              <a:t>• Automated duplicate or similarity detection for project titles and objectives</a:t>
            </a:r>
            <a:br>
              <a:rPr lang="en-US" dirty="0"/>
            </a:br>
            <a:r>
              <a:rPr lang="en-US" dirty="0"/>
              <a:t>• Hybrid similarity analysis using methods like Levenshtein, TF-IDF, and SBERT</a:t>
            </a:r>
            <a:br>
              <a:rPr lang="en-US" dirty="0"/>
            </a:br>
            <a:r>
              <a:rPr lang="en-US" dirty="0"/>
              <a:t>• Access to past approved projects for multiple years</a:t>
            </a:r>
          </a:p>
          <a:p>
            <a:pPr marL="0" indent="0">
              <a:buNone/>
            </a:pPr>
            <a:r>
              <a:rPr lang="en-US" dirty="0"/>
              <a:t>These limitations reduce the effectiveness of the systems in ensuring originality, efficient tracking, and proper supervision of student projects.</a:t>
            </a:r>
          </a:p>
          <a:p>
            <a:pPr marL="0" indent="0">
              <a:buNone/>
            </a:pPr>
            <a:endParaRPr lang="en-US" dirty="0"/>
          </a:p>
        </p:txBody>
      </p:sp>
    </p:spTree>
    <p:extLst>
      <p:ext uri="{BB962C8B-B14F-4D97-AF65-F5344CB8AC3E}">
        <p14:creationId xmlns:p14="http://schemas.microsoft.com/office/powerpoint/2010/main" val="1289930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89FA4-7EDF-7758-64AA-2A34F79E2A7A}"/>
              </a:ext>
            </a:extLst>
          </p:cNvPr>
          <p:cNvSpPr>
            <a:spLocks noGrp="1"/>
          </p:cNvSpPr>
          <p:nvPr>
            <p:ph type="title"/>
          </p:nvPr>
        </p:nvSpPr>
        <p:spPr/>
        <p:txBody>
          <a:bodyPr/>
          <a:lstStyle/>
          <a:p>
            <a:r>
              <a:rPr lang="en-US" b="1" dirty="0">
                <a:solidFill>
                  <a:srgbClr val="C00000"/>
                </a:solidFill>
                <a:latin typeface="+mn-lt"/>
              </a:rPr>
              <a:t>Relation to the Proposed System</a:t>
            </a:r>
          </a:p>
        </p:txBody>
      </p:sp>
      <p:sp>
        <p:nvSpPr>
          <p:cNvPr id="3" name="Content Placeholder 2">
            <a:extLst>
              <a:ext uri="{FF2B5EF4-FFF2-40B4-BE49-F238E27FC236}">
                <a16:creationId xmlns:a16="http://schemas.microsoft.com/office/drawing/2014/main" id="{6EA1BE16-378F-5D3E-2819-48C71AC58E12}"/>
              </a:ext>
            </a:extLst>
          </p:cNvPr>
          <p:cNvSpPr>
            <a:spLocks noGrp="1"/>
          </p:cNvSpPr>
          <p:nvPr>
            <p:ph idx="1"/>
          </p:nvPr>
        </p:nvSpPr>
        <p:spPr/>
        <p:txBody>
          <a:bodyPr>
            <a:normAutofit fontScale="92500" lnSpcReduction="10000"/>
          </a:bodyPr>
          <a:lstStyle/>
          <a:p>
            <a:pPr marL="0" indent="0">
              <a:buNone/>
            </a:pPr>
            <a:r>
              <a:rPr lang="en-US" dirty="0"/>
              <a:t>The proposed Final Year Project Management system addresses the identified gaps by providing:</a:t>
            </a:r>
            <a:br>
              <a:rPr lang="en-US" dirty="0"/>
            </a:br>
            <a:r>
              <a:rPr lang="en-US" dirty="0"/>
              <a:t>• Automated detection of duplicate or highly similar project titles and objectives using hybrid methods (Levenshtein, TF-IDF, SBERT).</a:t>
            </a:r>
            <a:br>
              <a:rPr lang="en-US" dirty="0"/>
            </a:br>
            <a:r>
              <a:rPr lang="en-US" dirty="0"/>
              <a:t>• Access to past approved projects across multiple years to prevent repetition.</a:t>
            </a:r>
            <a:br>
              <a:rPr lang="en-US" dirty="0"/>
            </a:br>
            <a:r>
              <a:rPr lang="en-US" dirty="0"/>
              <a:t>• Students can see fellows assigned to the same mentor, promoting collaboration.</a:t>
            </a:r>
          </a:p>
          <a:p>
            <a:pPr marL="0" indent="0">
              <a:buNone/>
            </a:pPr>
            <a:r>
              <a:rPr lang="en-US" dirty="0"/>
              <a:t>These features automate project management, improve originality, supervision, transparency, and collaboration, building on the strengths of existing portals like the NIT system while ensuring efficient and properly tracked submissions.</a:t>
            </a:r>
          </a:p>
          <a:p>
            <a:pPr marL="0" indent="0">
              <a:buNone/>
            </a:pPr>
            <a:endParaRPr lang="en-US" dirty="0"/>
          </a:p>
        </p:txBody>
      </p:sp>
    </p:spTree>
    <p:extLst>
      <p:ext uri="{BB962C8B-B14F-4D97-AF65-F5344CB8AC3E}">
        <p14:creationId xmlns:p14="http://schemas.microsoft.com/office/powerpoint/2010/main" val="4061313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5FA7-3D70-5A1E-F618-BD91ABA4558F}"/>
              </a:ext>
            </a:extLst>
          </p:cNvPr>
          <p:cNvSpPr>
            <a:spLocks noGrp="1"/>
          </p:cNvSpPr>
          <p:nvPr>
            <p:ph type="title"/>
          </p:nvPr>
        </p:nvSpPr>
        <p:spPr/>
        <p:txBody>
          <a:bodyPr/>
          <a:lstStyle/>
          <a:p>
            <a:r>
              <a:rPr lang="en-US" b="1" dirty="0">
                <a:solidFill>
                  <a:srgbClr val="C00000"/>
                </a:solidFill>
                <a:latin typeface="+mn-lt"/>
              </a:rPr>
              <a:t>References</a:t>
            </a:r>
          </a:p>
        </p:txBody>
      </p:sp>
      <p:sp>
        <p:nvSpPr>
          <p:cNvPr id="3" name="Content Placeholder 2">
            <a:extLst>
              <a:ext uri="{FF2B5EF4-FFF2-40B4-BE49-F238E27FC236}">
                <a16:creationId xmlns:a16="http://schemas.microsoft.com/office/drawing/2014/main" id="{A2FA3E67-35BF-7867-151F-03B09FD440FB}"/>
              </a:ext>
            </a:extLst>
          </p:cNvPr>
          <p:cNvSpPr>
            <a:spLocks noGrp="1"/>
          </p:cNvSpPr>
          <p:nvPr>
            <p:ph idx="1"/>
          </p:nvPr>
        </p:nvSpPr>
        <p:spPr/>
        <p:txBody>
          <a:bodyPr/>
          <a:lstStyle/>
          <a:p>
            <a:r>
              <a:rPr lang="en-US" dirty="0"/>
              <a:t>National Institute of Transport (NIT) Student Portal. (2023). Final year project submission, mentor feedback, and project tracking [Web portal]. Tanzania: NIT.</a:t>
            </a:r>
          </a:p>
          <a:p>
            <a:r>
              <a:rPr lang="en-US" dirty="0"/>
              <a:t>Isa, R., Othman, S., Ali, A. S., Azizan, N., &amp; Ferguson, J. (2024). Prototype development of final year project management system to monitor student’s performance. </a:t>
            </a:r>
            <a:r>
              <a:rPr lang="en-US" i="1" dirty="0"/>
              <a:t>Journal of Advanced Research in Applied Sciences and Engineering Technology</a:t>
            </a:r>
            <a:r>
              <a:rPr lang="en-US" dirty="0"/>
              <a:t>.</a:t>
            </a:r>
          </a:p>
          <a:p>
            <a:r>
              <a:rPr lang="en-US" dirty="0"/>
              <a:t>Soyemi, J., &amp; Isinkaye, F. O. (2017). Final year student project duplication detection system. </a:t>
            </a:r>
            <a:r>
              <a:rPr lang="en-US" i="1" dirty="0"/>
              <a:t>International Journal of Computer Applications</a:t>
            </a:r>
            <a:r>
              <a:rPr lang="en-US" dirty="0"/>
              <a:t>.</a:t>
            </a:r>
          </a:p>
          <a:p>
            <a:endParaRPr lang="en-US" dirty="0"/>
          </a:p>
        </p:txBody>
      </p:sp>
    </p:spTree>
    <p:extLst>
      <p:ext uri="{BB962C8B-B14F-4D97-AF65-F5344CB8AC3E}">
        <p14:creationId xmlns:p14="http://schemas.microsoft.com/office/powerpoint/2010/main" val="588483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18763-FC0D-72B4-F293-8C70E47A20F8}"/>
              </a:ext>
            </a:extLst>
          </p:cNvPr>
          <p:cNvSpPr>
            <a:spLocks noGrp="1"/>
          </p:cNvSpPr>
          <p:nvPr>
            <p:ph type="title"/>
          </p:nvPr>
        </p:nvSpPr>
        <p:spPr/>
        <p:txBody>
          <a:bodyPr/>
          <a:lstStyle/>
          <a:p>
            <a:r>
              <a:rPr lang="en-US" b="1" dirty="0">
                <a:solidFill>
                  <a:srgbClr val="C00000"/>
                </a:solidFill>
                <a:latin typeface="+mn-lt"/>
              </a:rPr>
              <a:t>References continued…</a:t>
            </a:r>
            <a:endParaRPr lang="en-US" dirty="0">
              <a:solidFill>
                <a:srgbClr val="C00000"/>
              </a:solidFill>
              <a:latin typeface="+mn-lt"/>
            </a:endParaRPr>
          </a:p>
        </p:txBody>
      </p:sp>
      <p:sp>
        <p:nvSpPr>
          <p:cNvPr id="3" name="Content Placeholder 2">
            <a:extLst>
              <a:ext uri="{FF2B5EF4-FFF2-40B4-BE49-F238E27FC236}">
                <a16:creationId xmlns:a16="http://schemas.microsoft.com/office/drawing/2014/main" id="{787686CA-CC7A-395F-2D18-84C8323E112C}"/>
              </a:ext>
            </a:extLst>
          </p:cNvPr>
          <p:cNvSpPr>
            <a:spLocks noGrp="1"/>
          </p:cNvSpPr>
          <p:nvPr>
            <p:ph idx="1"/>
          </p:nvPr>
        </p:nvSpPr>
        <p:spPr/>
        <p:txBody>
          <a:bodyPr/>
          <a:lstStyle/>
          <a:p>
            <a:pPr lvl="0"/>
            <a:r>
              <a:rPr lang="en-US" dirty="0"/>
              <a:t>Albitar, S., Fournier, S., &amp; Espinasse, B. (2014). An effective TF/IDF-based text-to-text semantic similarity measure for text classification. </a:t>
            </a:r>
            <a:r>
              <a:rPr lang="en-US" i="1" dirty="0"/>
              <a:t>International Journal of Computer Applications.</a:t>
            </a:r>
            <a:endParaRPr lang="en-US" dirty="0"/>
          </a:p>
          <a:p>
            <a:pPr lvl="0"/>
            <a:r>
              <a:rPr lang="en-US" dirty="0"/>
              <a:t>Reimers, N., &amp; Gurevych, I. (2019). Sentence-BERT: Sentence embeddings using Siamese BERT-networks. </a:t>
            </a:r>
          </a:p>
          <a:p>
            <a:r>
              <a:rPr lang="en-US" dirty="0" err="1"/>
              <a:t>Levenshtein</a:t>
            </a:r>
            <a:r>
              <a:rPr lang="en-US" dirty="0"/>
              <a:t>, V. I. (1965). </a:t>
            </a:r>
            <a:r>
              <a:rPr lang="en-US" i="1" dirty="0"/>
              <a:t>Binary codes with correction for deletions and insertions of the symbol 1</a:t>
            </a:r>
            <a:r>
              <a:rPr lang="en-US" dirty="0"/>
              <a:t>. Problems of Information Transmission.</a:t>
            </a:r>
          </a:p>
          <a:p>
            <a:endParaRPr lang="en-US" dirty="0"/>
          </a:p>
        </p:txBody>
      </p:sp>
    </p:spTree>
    <p:extLst>
      <p:ext uri="{BB962C8B-B14F-4D97-AF65-F5344CB8AC3E}">
        <p14:creationId xmlns:p14="http://schemas.microsoft.com/office/powerpoint/2010/main" val="3495320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466</TotalTime>
  <Words>1105</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Particulars and  Project Information</vt:lpstr>
      <vt:lpstr>Background</vt:lpstr>
      <vt:lpstr>Problem statement</vt:lpstr>
      <vt:lpstr>Significance of the project</vt:lpstr>
      <vt:lpstr>Main objectives</vt:lpstr>
      <vt:lpstr>Specific Objectives</vt:lpstr>
      <vt:lpstr>Scope of the Project</vt:lpstr>
      <vt:lpstr>Introduction to the Literature Review</vt:lpstr>
      <vt:lpstr>Review of Existing Studies and System</vt:lpstr>
      <vt:lpstr>Review of Existing Studies and System continued…</vt:lpstr>
      <vt:lpstr>Identified Gaps in Existing System</vt:lpstr>
      <vt:lpstr>Relation to the Proposed System</vt:lpstr>
      <vt:lpstr>References</vt:lpstr>
      <vt:lpstr>References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رحمة</dc:creator>
  <cp:lastModifiedBy>رحمة</cp:lastModifiedBy>
  <cp:revision>17</cp:revision>
  <dcterms:created xsi:type="dcterms:W3CDTF">2026-01-29T13:11:06Z</dcterms:created>
  <dcterms:modified xsi:type="dcterms:W3CDTF">2026-02-04T08:14:59Z</dcterms:modified>
</cp:coreProperties>
</file>