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67" autoAdjust="0"/>
    <p:restoredTop sz="94660"/>
  </p:normalViewPr>
  <p:slideViewPr>
    <p:cSldViewPr snapToGrid="0">
      <p:cViewPr varScale="1">
        <p:scale>
          <a:sx n="66" d="100"/>
          <a:sy n="66" d="100"/>
        </p:scale>
        <p:origin x="4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85F4D-66DD-4ABD-8E8A-6CE095582BE0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469E4C-2009-49F1-A550-4971CB1294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0368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1469E4C-2009-49F1-A550-4971CB12947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28349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47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130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5266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0042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856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6510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913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7825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32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035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5783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4163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436915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9027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04773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471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7D1458-ED77-4027-84C1-9E05BE035C1A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2F85EA0-B687-45AB-8793-A80455540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8641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4551" y="1765437"/>
            <a:ext cx="7766936" cy="1646302"/>
          </a:xfrm>
        </p:spPr>
        <p:txBody>
          <a:bodyPr/>
          <a:lstStyle/>
          <a:p>
            <a:pPr algn="ctr"/>
            <a:r>
              <a:rPr lang="en-US" dirty="0" smtClean="0"/>
              <a:t>MULTIMEDIA SYSTEMS ASND APPLICATIONS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 smtClean="0"/>
              <a:t>GROUP NUMBER 02.</a:t>
            </a:r>
            <a:endParaRPr lang="en-US" sz="3200" b="1" dirty="0"/>
          </a:p>
        </p:txBody>
      </p:sp>
    </p:spTree>
    <p:extLst>
      <p:ext uri="{BB962C8B-B14F-4D97-AF65-F5344CB8AC3E}">
        <p14:creationId xmlns:p14="http://schemas.microsoft.com/office/powerpoint/2010/main" val="2348754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CONCEPT OF MULTIMEDIA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sz="3200" dirty="0" smtClean="0"/>
              <a:t>This refers to the computer systems designed to handle multiple forms of media at the same time.</a:t>
            </a:r>
          </a:p>
          <a:p>
            <a:pPr algn="just"/>
            <a:r>
              <a:rPr lang="en-US" sz="3200" dirty="0" smtClean="0"/>
              <a:t>Types of media includes text, image, audio, video, animations, graphics, interactive contents.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38377056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FEATURES OF MULTIMEDIA SYSTEMS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3200" dirty="0" smtClean="0"/>
              <a:t>Interacted media.</a:t>
            </a:r>
          </a:p>
          <a:p>
            <a:r>
              <a:rPr lang="en-US" sz="3200" dirty="0" smtClean="0"/>
              <a:t>Interactivity.</a:t>
            </a:r>
          </a:p>
          <a:p>
            <a:r>
              <a:rPr lang="en-US" sz="3200" dirty="0" smtClean="0"/>
              <a:t>Real-Time performance.</a:t>
            </a:r>
          </a:p>
          <a:p>
            <a:r>
              <a:rPr lang="en-US" sz="3200" dirty="0" smtClean="0"/>
              <a:t>High processing and storage requirements.</a:t>
            </a:r>
          </a:p>
          <a:p>
            <a:r>
              <a:rPr lang="en-US" sz="3200" dirty="0" smtClean="0"/>
              <a:t>Require time accuracy and synchronization</a:t>
            </a:r>
            <a:r>
              <a:rPr lang="en-US" sz="3200" dirty="0" smtClean="0"/>
              <a:t>.</a:t>
            </a:r>
          </a:p>
          <a:p>
            <a:r>
              <a:rPr lang="en-US" sz="3000" dirty="0"/>
              <a:t>Examples:</a:t>
            </a:r>
          </a:p>
          <a:p>
            <a:r>
              <a:rPr lang="en-US" sz="3000" dirty="0"/>
              <a:t>Smartphones, PCs, game consoles, digital kiosks, VR/AR systems, YouTube platforms.</a:t>
            </a:r>
          </a:p>
          <a:p>
            <a:r>
              <a:rPr lang="en-US" sz="3000" dirty="0"/>
              <a:t> </a:t>
            </a:r>
          </a:p>
          <a:p>
            <a:endParaRPr lang="en-US" sz="3200" dirty="0" smtClean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9318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 </a:t>
            </a:r>
            <a:r>
              <a:rPr lang="en-US" dirty="0"/>
              <a:t>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1930401"/>
            <a:ext cx="8596668" cy="411096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100" dirty="0" smtClean="0"/>
              <a:t>A </a:t>
            </a:r>
            <a:r>
              <a:rPr lang="en-US" sz="3100" dirty="0"/>
              <a:t>multimedia system architecture includes five major components</a:t>
            </a:r>
            <a:r>
              <a:rPr lang="en-US" sz="3100" dirty="0" smtClean="0"/>
              <a:t>:</a:t>
            </a:r>
            <a:endParaRPr lang="en-US" sz="3100" dirty="0"/>
          </a:p>
          <a:p>
            <a:pPr marL="0" indent="0">
              <a:buNone/>
            </a:pPr>
            <a:r>
              <a:rPr lang="en-US" sz="3100" dirty="0"/>
              <a:t>A. Input </a:t>
            </a:r>
            <a:r>
              <a:rPr lang="en-US" sz="3100" dirty="0" smtClean="0"/>
              <a:t>Devices; Devices </a:t>
            </a:r>
            <a:r>
              <a:rPr lang="en-US" sz="3100" dirty="0"/>
              <a:t>used to capture or input media</a:t>
            </a:r>
            <a:r>
              <a:rPr lang="en-US" sz="3100" dirty="0" smtClean="0"/>
              <a:t>:</a:t>
            </a:r>
            <a:endParaRPr lang="en-US" sz="3100" dirty="0"/>
          </a:p>
          <a:p>
            <a:r>
              <a:rPr lang="en-US" sz="3100" dirty="0" smtClean="0"/>
              <a:t>Keyboard, mouse, Microphones, </a:t>
            </a:r>
            <a:r>
              <a:rPr lang="en-US" sz="3100" dirty="0" err="1" smtClean="0"/>
              <a:t>Scanners,Digital</a:t>
            </a:r>
            <a:r>
              <a:rPr lang="en-US" sz="3100" dirty="0" smtClean="0"/>
              <a:t> cameras, Webcams</a:t>
            </a:r>
            <a:r>
              <a:rPr lang="en-US" sz="3100" dirty="0"/>
              <a:t> </a:t>
            </a:r>
            <a:r>
              <a:rPr lang="en-US" sz="3100" dirty="0" smtClean="0"/>
              <a:t>,Touchscreen </a:t>
            </a:r>
            <a:r>
              <a:rPr lang="en-US" sz="3100" dirty="0"/>
              <a:t>panels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2144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B. Processing </a:t>
            </a:r>
            <a:r>
              <a:rPr lang="en-US" sz="2400" dirty="0" smtClean="0"/>
              <a:t>System</a:t>
            </a:r>
            <a:endParaRPr lang="en-US" sz="2400" dirty="0"/>
          </a:p>
          <a:p>
            <a:r>
              <a:rPr lang="en-US" sz="2400" dirty="0"/>
              <a:t>Handles computation and rendering of multimedia data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/>
              <a:t>CPU (Central Processing Unit): executes program instructions, compression, decompression</a:t>
            </a:r>
            <a:r>
              <a:rPr lang="en-US" sz="2400" dirty="0" smtClean="0"/>
              <a:t>.</a:t>
            </a:r>
            <a:endParaRPr lang="en-US" sz="2400" dirty="0"/>
          </a:p>
          <a:p>
            <a:r>
              <a:rPr lang="en-US" sz="2400" dirty="0"/>
              <a:t>GPU (Graphics Processing Unit): handles graphics rendering, video playback, animations, image processing.</a:t>
            </a:r>
          </a:p>
          <a:p>
            <a:r>
              <a:rPr lang="en-US" sz="2400" dirty="0"/>
              <a:t>The GPU is essential for video editing, gaming, and graphic-intensive tasks.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5321589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C</a:t>
            </a:r>
            <a:r>
              <a:rPr lang="en-US" sz="2800" dirty="0"/>
              <a:t>. </a:t>
            </a:r>
            <a:r>
              <a:rPr lang="en-US" sz="2800" dirty="0" smtClean="0"/>
              <a:t>Storage; Multimedia </a:t>
            </a:r>
            <a:r>
              <a:rPr lang="en-US" sz="2800" dirty="0"/>
              <a:t>data is often large. Systems use</a:t>
            </a:r>
            <a:r>
              <a:rPr lang="en-US" sz="2800" dirty="0" smtClean="0"/>
              <a:t>:</a:t>
            </a:r>
            <a:endParaRPr lang="en-US" sz="2800" dirty="0"/>
          </a:p>
          <a:p>
            <a:r>
              <a:rPr lang="en-US" sz="2800" dirty="0"/>
              <a:t>SSD (fast performance</a:t>
            </a:r>
            <a:r>
              <a:rPr lang="en-US" sz="2800" dirty="0" smtClean="0"/>
              <a:t>)</a:t>
            </a:r>
            <a:endParaRPr lang="en-US" sz="2800" dirty="0"/>
          </a:p>
          <a:p>
            <a:r>
              <a:rPr lang="en-US" sz="2800" dirty="0"/>
              <a:t>HDD (large capacity</a:t>
            </a:r>
            <a:r>
              <a:rPr lang="en-US" sz="2800" dirty="0" smtClean="0"/>
              <a:t>)</a:t>
            </a:r>
            <a:endParaRPr lang="en-US" sz="2800" dirty="0"/>
          </a:p>
          <a:p>
            <a:r>
              <a:rPr lang="en-US" sz="2800" dirty="0"/>
              <a:t>Cloud storage (Google Drive, OneDrive)</a:t>
            </a:r>
          </a:p>
          <a:p>
            <a:r>
              <a:rPr lang="en-US" sz="2800" dirty="0"/>
              <a:t> 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0551013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D. Output </a:t>
            </a:r>
            <a:r>
              <a:rPr lang="en-US" sz="2800" dirty="0" smtClean="0"/>
              <a:t>Devices; Used </a:t>
            </a:r>
            <a:r>
              <a:rPr lang="en-US" sz="2800" dirty="0"/>
              <a:t>to present media: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Monitors </a:t>
            </a:r>
            <a:r>
              <a:rPr lang="en-US" sz="2800" dirty="0"/>
              <a:t>(LCD, LED, OLED)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Speakers</a:t>
            </a:r>
            <a:endParaRPr lang="en-US" sz="2800" dirty="0"/>
          </a:p>
          <a:p>
            <a:r>
              <a:rPr lang="en-US" sz="2800" dirty="0"/>
              <a:t> </a:t>
            </a:r>
            <a:r>
              <a:rPr lang="en-US" sz="2800" dirty="0" smtClean="0"/>
              <a:t>Headphones</a:t>
            </a:r>
            <a:endParaRPr lang="en-US" sz="2800" dirty="0"/>
          </a:p>
          <a:p>
            <a:r>
              <a:rPr lang="en-US" sz="2800" dirty="0"/>
              <a:t> </a:t>
            </a:r>
            <a:r>
              <a:rPr lang="en-US" sz="2800" dirty="0" smtClean="0"/>
              <a:t>Projectors</a:t>
            </a:r>
            <a:endParaRPr lang="en-US" sz="2800" dirty="0"/>
          </a:p>
          <a:p>
            <a:r>
              <a:rPr lang="en-US" sz="2800" dirty="0"/>
              <a:t> </a:t>
            </a:r>
            <a:r>
              <a:rPr lang="en-US" sz="2800" dirty="0" smtClean="0"/>
              <a:t>VR </a:t>
            </a:r>
            <a:r>
              <a:rPr lang="en-US" sz="2800" dirty="0"/>
              <a:t>headsets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27808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 smtClean="0"/>
              <a:t>E</a:t>
            </a:r>
            <a:r>
              <a:rPr lang="en-US" sz="2800" dirty="0"/>
              <a:t>. </a:t>
            </a:r>
            <a:r>
              <a:rPr lang="en-US" sz="2800" dirty="0" smtClean="0"/>
              <a:t>Network; Multimedia </a:t>
            </a:r>
            <a:r>
              <a:rPr lang="en-US" sz="2800" dirty="0"/>
              <a:t>often requires network connections for: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Streaming </a:t>
            </a:r>
            <a:r>
              <a:rPr lang="en-US" sz="2800" dirty="0"/>
              <a:t>(YouTube, Netflix)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Online </a:t>
            </a:r>
            <a:r>
              <a:rPr lang="en-US" sz="2800" dirty="0"/>
              <a:t>gaming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Video </a:t>
            </a:r>
            <a:r>
              <a:rPr lang="en-US" sz="2800" dirty="0"/>
              <a:t>conferencing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Cloud-based </a:t>
            </a:r>
            <a:r>
              <a:rPr lang="en-US" sz="2800" dirty="0"/>
              <a:t>multimedia applications</a:t>
            </a:r>
          </a:p>
          <a:p>
            <a:pPr marL="0" indent="0">
              <a:buNone/>
            </a:pPr>
            <a:r>
              <a:rPr lang="en-US" sz="2800" dirty="0"/>
              <a:t> </a:t>
            </a:r>
            <a:r>
              <a:rPr lang="en-US" sz="2400" dirty="0"/>
              <a:t>Needs</a:t>
            </a:r>
            <a:r>
              <a:rPr lang="en-US" sz="2400" dirty="0" smtClean="0"/>
              <a:t>:</a:t>
            </a:r>
            <a:r>
              <a:rPr lang="en-US" sz="2400" dirty="0"/>
              <a:t> </a:t>
            </a:r>
            <a:r>
              <a:rPr lang="en-US" sz="2400" dirty="0" smtClean="0"/>
              <a:t>High bandwidth,</a:t>
            </a:r>
            <a:r>
              <a:rPr lang="en-US" sz="2400" dirty="0"/>
              <a:t> </a:t>
            </a:r>
            <a:r>
              <a:rPr lang="en-US" sz="2400" dirty="0" smtClean="0"/>
              <a:t>Low latency, Stable </a:t>
            </a:r>
            <a:r>
              <a:rPr lang="en-US" sz="2400" dirty="0"/>
              <a:t>connection</a:t>
            </a:r>
          </a:p>
          <a:p>
            <a:endParaRPr lang="en-US" sz="2800" dirty="0"/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0846707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/>
              <a:t>3. Multimedia Workstations and Mobile </a:t>
            </a:r>
            <a:r>
              <a:rPr lang="en-US" sz="2000" dirty="0" smtClean="0"/>
              <a:t>Platforms</a:t>
            </a:r>
            <a:r>
              <a:rPr lang="en-US" sz="2000" dirty="0"/>
              <a:t> </a:t>
            </a:r>
          </a:p>
          <a:p>
            <a:r>
              <a:rPr lang="en-US" sz="2000" dirty="0"/>
              <a:t>A. Multimedia </a:t>
            </a:r>
            <a:r>
              <a:rPr lang="en-US" sz="2000" dirty="0" smtClean="0"/>
              <a:t>Workstations; These </a:t>
            </a:r>
            <a:r>
              <a:rPr lang="en-US" sz="2000" dirty="0"/>
              <a:t>are high-performance computers designed for professional multimedia tasks</a:t>
            </a:r>
            <a:r>
              <a:rPr lang="en-US" sz="2000" dirty="0" smtClean="0"/>
              <a:t>.</a:t>
            </a:r>
            <a:endParaRPr lang="en-US" sz="2000" dirty="0"/>
          </a:p>
          <a:p>
            <a:r>
              <a:rPr lang="en-US" sz="2000" dirty="0"/>
              <a:t>Hardware Requirements</a:t>
            </a:r>
            <a:r>
              <a:rPr lang="en-US" sz="2000" dirty="0" smtClean="0"/>
              <a:t>:</a:t>
            </a:r>
            <a:endParaRPr lang="en-US" sz="2000" dirty="0"/>
          </a:p>
          <a:p>
            <a:r>
              <a:rPr lang="en-US" sz="2000" dirty="0"/>
              <a:t>CPU: Multi-core (Intel i7/i9, AMD Ryzen </a:t>
            </a:r>
            <a:r>
              <a:rPr lang="en-US" sz="2000" dirty="0" smtClean="0"/>
              <a:t>7/9)</a:t>
            </a:r>
          </a:p>
          <a:p>
            <a:r>
              <a:rPr lang="en-US" sz="2000" dirty="0" smtClean="0"/>
              <a:t>GPU</a:t>
            </a:r>
            <a:r>
              <a:rPr lang="en-US" sz="2000" dirty="0"/>
              <a:t>: High performance (NVIDIA RTX series</a:t>
            </a:r>
            <a:r>
              <a:rPr lang="en-US" sz="2000" dirty="0" smtClean="0"/>
              <a:t>)</a:t>
            </a:r>
            <a:endParaRPr lang="en-US" sz="2000" dirty="0"/>
          </a:p>
          <a:p>
            <a:r>
              <a:rPr lang="en-US" sz="2000" dirty="0"/>
              <a:t>RAM: 16GB–64GB (for editing and rendering</a:t>
            </a:r>
            <a:r>
              <a:rPr lang="en-US" sz="2000" dirty="0" smtClean="0"/>
              <a:t>)</a:t>
            </a:r>
            <a:endParaRPr lang="en-US" sz="2000" dirty="0"/>
          </a:p>
          <a:p>
            <a:r>
              <a:rPr lang="en-US" sz="2000" dirty="0"/>
              <a:t>Storage: 512GB–2TB </a:t>
            </a:r>
            <a:r>
              <a:rPr lang="en-US" sz="2000" dirty="0" smtClean="0"/>
              <a:t>SSD</a:t>
            </a:r>
            <a:endParaRPr lang="en-US" sz="2000" dirty="0"/>
          </a:p>
          <a:p>
            <a:r>
              <a:rPr lang="en-US" sz="2000" dirty="0"/>
              <a:t>Sound card: High-quality audio </a:t>
            </a:r>
            <a:r>
              <a:rPr lang="en-US" sz="2000" dirty="0" smtClean="0"/>
              <a:t>processing</a:t>
            </a:r>
            <a:endParaRPr lang="en-US" sz="2000" dirty="0"/>
          </a:p>
          <a:p>
            <a:r>
              <a:rPr lang="en-US" sz="2000" dirty="0"/>
              <a:t>Capture devices: Video capture cards, cameras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26398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These systems are used for</a:t>
            </a:r>
            <a:r>
              <a:rPr lang="en-US" sz="2800" dirty="0" smtClean="0"/>
              <a:t>:</a:t>
            </a:r>
            <a:endParaRPr lang="en-US" sz="2800" dirty="0"/>
          </a:p>
          <a:p>
            <a:r>
              <a:rPr lang="en-US" sz="2800" dirty="0"/>
              <a:t>Video </a:t>
            </a:r>
            <a:r>
              <a:rPr lang="en-US" sz="2800" dirty="0" smtClean="0"/>
              <a:t>editing</a:t>
            </a:r>
            <a:endParaRPr lang="en-US" sz="2800" dirty="0"/>
          </a:p>
          <a:p>
            <a:r>
              <a:rPr lang="en-US" sz="2800" dirty="0"/>
              <a:t>Audio </a:t>
            </a:r>
            <a:r>
              <a:rPr lang="en-US" sz="2800" dirty="0" smtClean="0"/>
              <a:t>production</a:t>
            </a:r>
            <a:endParaRPr lang="en-US" sz="2800" dirty="0"/>
          </a:p>
          <a:p>
            <a:r>
              <a:rPr lang="en-US" sz="2800" dirty="0"/>
              <a:t>Game </a:t>
            </a:r>
            <a:r>
              <a:rPr lang="en-US" sz="2800" dirty="0" smtClean="0"/>
              <a:t>development</a:t>
            </a:r>
            <a:endParaRPr lang="en-US" sz="2800" dirty="0"/>
          </a:p>
          <a:p>
            <a:r>
              <a:rPr lang="en-US" sz="2800" dirty="0"/>
              <a:t>3D modeling and animation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985428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B. Mobile Multimedia </a:t>
            </a:r>
            <a:r>
              <a:rPr lang="en-US" sz="2400" dirty="0" smtClean="0"/>
              <a:t>Platforms;</a:t>
            </a:r>
            <a:r>
              <a:rPr lang="en-US" sz="2400" dirty="0"/>
              <a:t> </a:t>
            </a:r>
            <a:r>
              <a:rPr lang="en-US" sz="2400" dirty="0" smtClean="0"/>
              <a:t>Modern </a:t>
            </a:r>
            <a:r>
              <a:rPr lang="en-US" sz="2400" dirty="0"/>
              <a:t>smartphones and tablets are powerful multimedia devices.</a:t>
            </a:r>
          </a:p>
          <a:p>
            <a:pPr marL="0" indent="0">
              <a:buNone/>
            </a:pPr>
            <a:r>
              <a:rPr lang="en-US" sz="2400" dirty="0"/>
              <a:t> </a:t>
            </a:r>
            <a:r>
              <a:rPr lang="en-US" sz="2400" dirty="0" smtClean="0"/>
              <a:t>Hardware </a:t>
            </a:r>
            <a:r>
              <a:rPr lang="en-US" sz="2400" dirty="0"/>
              <a:t>Requirements: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Multi-core </a:t>
            </a:r>
            <a:r>
              <a:rPr lang="en-US" sz="2400" dirty="0"/>
              <a:t>processors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Integrated </a:t>
            </a:r>
            <a:r>
              <a:rPr lang="en-US" sz="2400" dirty="0"/>
              <a:t>GPU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RAM </a:t>
            </a:r>
            <a:r>
              <a:rPr lang="en-US" sz="2400" dirty="0"/>
              <a:t>(4–16GB)</a:t>
            </a:r>
          </a:p>
          <a:p>
            <a:r>
              <a:rPr lang="en-US" sz="2400" dirty="0"/>
              <a:t> </a:t>
            </a:r>
            <a:r>
              <a:rPr lang="en-US" sz="2600" dirty="0"/>
              <a:t>High-resolution display (AMOLED, HDR</a:t>
            </a:r>
            <a:r>
              <a:rPr lang="en-US" sz="2600" dirty="0" smtClean="0"/>
              <a:t>)</a:t>
            </a:r>
            <a:r>
              <a:rPr lang="en-US" sz="2600" dirty="0"/>
              <a:t> </a:t>
            </a:r>
          </a:p>
          <a:p>
            <a:r>
              <a:rPr lang="en-US" sz="2600" dirty="0"/>
              <a:t>Fast storage (UFS 2.1/3.1)</a:t>
            </a:r>
          </a:p>
          <a:p>
            <a:r>
              <a:rPr lang="en-US" sz="2600" dirty="0"/>
              <a:t> </a:t>
            </a:r>
            <a:r>
              <a:rPr lang="en-US" sz="2600" dirty="0" smtClean="0"/>
              <a:t>High-quality </a:t>
            </a:r>
            <a:r>
              <a:rPr lang="en-US" sz="2600" dirty="0"/>
              <a:t>cameras</a:t>
            </a:r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42542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Used for</a:t>
            </a:r>
            <a:r>
              <a:rPr lang="en-US" sz="2400" dirty="0" smtClean="0"/>
              <a:t>:</a:t>
            </a:r>
            <a:endParaRPr lang="en-US" sz="2400" dirty="0"/>
          </a:p>
          <a:p>
            <a:r>
              <a:rPr lang="en-US" sz="2400" dirty="0"/>
              <a:t>Mobile video editing</a:t>
            </a:r>
          </a:p>
          <a:p>
            <a:r>
              <a:rPr lang="en-US" sz="2400" dirty="0"/>
              <a:t> </a:t>
            </a:r>
            <a:r>
              <a:rPr lang="en-US" sz="2400" dirty="0" err="1" smtClean="0"/>
              <a:t>TikTok</a:t>
            </a:r>
            <a:r>
              <a:rPr lang="en-US" sz="2400" dirty="0" smtClean="0"/>
              <a:t>/Instagram </a:t>
            </a:r>
            <a:r>
              <a:rPr lang="en-US" sz="2400" dirty="0"/>
              <a:t>content </a:t>
            </a:r>
            <a:r>
              <a:rPr lang="en-US" sz="2400" dirty="0" smtClean="0"/>
              <a:t>creation</a:t>
            </a:r>
            <a:endParaRPr lang="en-US" sz="2400" dirty="0"/>
          </a:p>
          <a:p>
            <a:r>
              <a:rPr lang="en-US" sz="2400" dirty="0"/>
              <a:t>Mobile </a:t>
            </a:r>
            <a:r>
              <a:rPr lang="en-US" sz="2400" dirty="0" smtClean="0"/>
              <a:t>gaming</a:t>
            </a:r>
            <a:endParaRPr lang="en-US" sz="2400" dirty="0"/>
          </a:p>
          <a:p>
            <a:r>
              <a:rPr lang="en-US" sz="2400" dirty="0"/>
              <a:t>Media streaming</a:t>
            </a:r>
          </a:p>
          <a:p>
            <a:r>
              <a:rPr lang="en-US" sz="2400" dirty="0"/>
              <a:t> </a:t>
            </a:r>
          </a:p>
          <a:p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1279702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/>
              <a:t>4. Multimedia Operating System (OS) </a:t>
            </a:r>
            <a:r>
              <a:rPr lang="en-US" sz="2800" dirty="0" smtClean="0"/>
              <a:t>Features; A </a:t>
            </a:r>
            <a:r>
              <a:rPr lang="en-US" sz="2800" dirty="0"/>
              <a:t>multimedia OS must support special features:</a:t>
            </a:r>
          </a:p>
          <a:p>
            <a:pPr marL="0" indent="0">
              <a:buNone/>
            </a:pPr>
            <a:r>
              <a:rPr lang="en-US" sz="2800" dirty="0" smtClean="0"/>
              <a:t>1</a:t>
            </a:r>
            <a:r>
              <a:rPr lang="en-US" sz="2800" dirty="0"/>
              <a:t>. Timing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Ensures </a:t>
            </a:r>
            <a:r>
              <a:rPr lang="en-US" sz="2800" dirty="0"/>
              <a:t>multimedia content is delivered at the correct time: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Smooth </a:t>
            </a:r>
            <a:r>
              <a:rPr lang="en-US" sz="2800" dirty="0"/>
              <a:t>video playback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No </a:t>
            </a:r>
            <a:r>
              <a:rPr lang="en-US" sz="2800" dirty="0"/>
              <a:t>audio delay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Consistent </a:t>
            </a:r>
            <a:r>
              <a:rPr lang="en-US" sz="2800" dirty="0"/>
              <a:t>frame rates</a:t>
            </a:r>
          </a:p>
          <a:p>
            <a:r>
              <a:rPr lang="en-US" sz="2800" dirty="0"/>
              <a:t> 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467603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000" dirty="0" smtClean="0"/>
              <a:t>2</a:t>
            </a:r>
            <a:r>
              <a:rPr lang="en-US" sz="2000" dirty="0"/>
              <a:t>. </a:t>
            </a:r>
            <a:r>
              <a:rPr lang="en-US" sz="2000" dirty="0" smtClean="0"/>
              <a:t>Synchronization;</a:t>
            </a:r>
            <a:r>
              <a:rPr lang="en-US" sz="2000" dirty="0"/>
              <a:t> </a:t>
            </a:r>
            <a:r>
              <a:rPr lang="en-US" sz="2000" dirty="0" smtClean="0"/>
              <a:t>Coordinates </a:t>
            </a:r>
            <a:r>
              <a:rPr lang="en-US" sz="2000" dirty="0"/>
              <a:t>different media streams:</a:t>
            </a:r>
          </a:p>
          <a:p>
            <a:r>
              <a:rPr lang="en-US" sz="2000" dirty="0"/>
              <a:t> </a:t>
            </a:r>
            <a:r>
              <a:rPr lang="en-US" sz="2000" dirty="0" smtClean="0"/>
              <a:t>Audio </a:t>
            </a:r>
            <a:r>
              <a:rPr lang="en-US" sz="2000" dirty="0"/>
              <a:t>matches lip movements in video</a:t>
            </a:r>
          </a:p>
          <a:p>
            <a:r>
              <a:rPr lang="en-US" sz="2000" dirty="0"/>
              <a:t> </a:t>
            </a:r>
            <a:r>
              <a:rPr lang="en-US" sz="2000" dirty="0" smtClean="0"/>
              <a:t>Background </a:t>
            </a:r>
            <a:r>
              <a:rPr lang="en-US" sz="2000" dirty="0"/>
              <a:t>music aligns with animation</a:t>
            </a:r>
          </a:p>
          <a:p>
            <a:r>
              <a:rPr lang="en-US" sz="2000" dirty="0"/>
              <a:t> </a:t>
            </a:r>
            <a:r>
              <a:rPr lang="en-US" sz="2000" dirty="0" smtClean="0"/>
              <a:t>Captions </a:t>
            </a:r>
            <a:r>
              <a:rPr lang="en-US" sz="2000" dirty="0"/>
              <a:t>display at the correct time</a:t>
            </a:r>
          </a:p>
          <a:p>
            <a:pPr marL="0" indent="0">
              <a:buNone/>
            </a:pPr>
            <a:r>
              <a:rPr lang="en-US" sz="2000" dirty="0" smtClean="0"/>
              <a:t>3</a:t>
            </a:r>
            <a:r>
              <a:rPr lang="en-US" sz="2000" dirty="0"/>
              <a:t>. Device </a:t>
            </a:r>
            <a:r>
              <a:rPr lang="en-US" sz="2000" dirty="0" smtClean="0"/>
              <a:t>Drivers; Software </a:t>
            </a:r>
            <a:r>
              <a:rPr lang="en-US" sz="2000" dirty="0"/>
              <a:t>components that allow the OS to communicate with multimedia hardware</a:t>
            </a:r>
            <a:r>
              <a:rPr lang="en-US" sz="2000" dirty="0" smtClean="0"/>
              <a:t>:</a:t>
            </a:r>
            <a:r>
              <a:rPr lang="en-US" sz="2000" dirty="0"/>
              <a:t> </a:t>
            </a:r>
          </a:p>
          <a:p>
            <a:r>
              <a:rPr lang="en-US" sz="2000" dirty="0"/>
              <a:t>Video </a:t>
            </a:r>
            <a:r>
              <a:rPr lang="en-US" sz="2000" dirty="0" smtClean="0"/>
              <a:t>drivers</a:t>
            </a:r>
            <a:r>
              <a:rPr lang="en-US" sz="2000" dirty="0"/>
              <a:t> </a:t>
            </a:r>
          </a:p>
          <a:p>
            <a:r>
              <a:rPr lang="en-US" sz="2000" dirty="0"/>
              <a:t>Audio </a:t>
            </a:r>
            <a:r>
              <a:rPr lang="en-US" sz="2000" dirty="0" smtClean="0"/>
              <a:t>drivers</a:t>
            </a:r>
            <a:r>
              <a:rPr lang="en-US" sz="2000" dirty="0"/>
              <a:t> </a:t>
            </a:r>
          </a:p>
          <a:p>
            <a:r>
              <a:rPr lang="en-US" sz="2000" dirty="0"/>
              <a:t>Camera drivers</a:t>
            </a:r>
          </a:p>
          <a:p>
            <a:r>
              <a:rPr lang="en-US" sz="2000" dirty="0"/>
              <a:t> </a:t>
            </a:r>
            <a:r>
              <a:rPr lang="en-US" sz="2000" dirty="0" smtClean="0"/>
              <a:t>Printer </a:t>
            </a:r>
            <a:r>
              <a:rPr lang="en-US" sz="2000" dirty="0"/>
              <a:t>and scanner </a:t>
            </a:r>
            <a:r>
              <a:rPr lang="en-US" sz="2000" dirty="0" smtClean="0"/>
              <a:t>drivers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93583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4</a:t>
            </a:r>
            <a:r>
              <a:rPr lang="en-US" sz="2400" dirty="0"/>
              <a:t>. Real-Time Constraints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Some </a:t>
            </a:r>
            <a:r>
              <a:rPr lang="en-US" sz="2400" dirty="0"/>
              <a:t>multimedia tasks must happen instantly (real-time):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Video </a:t>
            </a:r>
            <a:r>
              <a:rPr lang="en-US" sz="2400" dirty="0"/>
              <a:t>conferencing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Online </a:t>
            </a:r>
            <a:r>
              <a:rPr lang="en-US" sz="2400" dirty="0"/>
              <a:t>gaming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Live </a:t>
            </a:r>
            <a:r>
              <a:rPr lang="en-US" sz="2400" dirty="0"/>
              <a:t>streaming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VR/AR </a:t>
            </a:r>
            <a:r>
              <a:rPr lang="en-US" sz="2400" dirty="0"/>
              <a:t>systems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The </a:t>
            </a:r>
            <a:r>
              <a:rPr lang="en-US" sz="2400" dirty="0"/>
              <a:t>OS must prevent delays in these applications.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157508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/>
              <a:t>5</a:t>
            </a:r>
            <a:r>
              <a:rPr lang="en-US" sz="2400" dirty="0"/>
              <a:t>. Software Layers in Multimedia </a:t>
            </a:r>
            <a:r>
              <a:rPr lang="en-US" sz="2400" dirty="0" smtClean="0"/>
              <a:t>Systems; Multimedia </a:t>
            </a:r>
            <a:r>
              <a:rPr lang="en-US" sz="2400" dirty="0"/>
              <a:t>software can be grouped into different layers:</a:t>
            </a:r>
          </a:p>
          <a:p>
            <a:pPr marL="0" indent="0">
              <a:buNone/>
            </a:pPr>
            <a:r>
              <a:rPr lang="en-US" sz="2400" dirty="0" smtClean="0"/>
              <a:t>A</a:t>
            </a:r>
            <a:r>
              <a:rPr lang="en-US" sz="2400" dirty="0"/>
              <a:t>. Editing </a:t>
            </a:r>
            <a:r>
              <a:rPr lang="en-US" sz="2400" dirty="0" smtClean="0"/>
              <a:t>Tools; Used </a:t>
            </a:r>
            <a:r>
              <a:rPr lang="en-US" sz="2400" dirty="0"/>
              <a:t>to create or modify multimedia content: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Adobe </a:t>
            </a:r>
            <a:r>
              <a:rPr lang="en-US" sz="2400" dirty="0"/>
              <a:t>Photoshop – image editing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Adobe </a:t>
            </a:r>
            <a:r>
              <a:rPr lang="en-US" sz="2400" dirty="0"/>
              <a:t>Premiere – video editing</a:t>
            </a:r>
          </a:p>
          <a:p>
            <a:r>
              <a:rPr lang="en-US" sz="2400" dirty="0"/>
              <a:t>Audacity – audio editing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Blender </a:t>
            </a:r>
            <a:r>
              <a:rPr lang="en-US" sz="2400" dirty="0"/>
              <a:t>– 3D modeling and </a:t>
            </a:r>
            <a:r>
              <a:rPr lang="en-US" sz="2400" dirty="0" smtClean="0"/>
              <a:t>animation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43551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800" dirty="0" smtClean="0"/>
              <a:t>B</a:t>
            </a:r>
            <a:r>
              <a:rPr lang="en-US" sz="2800" dirty="0"/>
              <a:t>. Authoring Tools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Used </a:t>
            </a:r>
            <a:r>
              <a:rPr lang="en-US" sz="2800" dirty="0"/>
              <a:t>to combine media into interactive applications: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Adobe </a:t>
            </a:r>
            <a:r>
              <a:rPr lang="en-US" sz="2800" dirty="0"/>
              <a:t>Animate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Adobe </a:t>
            </a:r>
            <a:r>
              <a:rPr lang="en-US" sz="2800" dirty="0"/>
              <a:t>Director (legacy)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Unity </a:t>
            </a:r>
            <a:r>
              <a:rPr lang="en-US" sz="2800" dirty="0"/>
              <a:t>/ Unreal Engine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e-learning </a:t>
            </a:r>
            <a:r>
              <a:rPr lang="en-US" sz="2800" dirty="0"/>
              <a:t>tools (Articulate Storyline, Adobe Captivate)</a:t>
            </a:r>
          </a:p>
          <a:p>
            <a:r>
              <a:rPr lang="en-US" sz="2800" dirty="0"/>
              <a:t> 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7772975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C. Media </a:t>
            </a:r>
            <a:r>
              <a:rPr lang="en-US" sz="2400" dirty="0" smtClean="0"/>
              <a:t>Players; Software </a:t>
            </a:r>
            <a:r>
              <a:rPr lang="en-US" sz="2400" dirty="0"/>
              <a:t>for playing multimedia files: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VLC </a:t>
            </a:r>
            <a:r>
              <a:rPr lang="en-US" sz="2400" dirty="0"/>
              <a:t>Media </a:t>
            </a:r>
            <a:r>
              <a:rPr lang="en-US" sz="2400" dirty="0" smtClean="0"/>
              <a:t>Player</a:t>
            </a:r>
            <a:r>
              <a:rPr lang="en-US" sz="2400" dirty="0"/>
              <a:t> </a:t>
            </a:r>
          </a:p>
          <a:p>
            <a:r>
              <a:rPr lang="en-US" sz="2400" dirty="0"/>
              <a:t>QuickTime Player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Windows </a:t>
            </a:r>
            <a:r>
              <a:rPr lang="en-US" sz="2400" dirty="0"/>
              <a:t>Media Player</a:t>
            </a:r>
          </a:p>
          <a:p>
            <a:pPr marL="0" indent="0">
              <a:buNone/>
            </a:pPr>
            <a:r>
              <a:rPr lang="en-US" sz="2400" dirty="0" smtClean="0"/>
              <a:t>D</a:t>
            </a:r>
            <a:r>
              <a:rPr lang="en-US" sz="2400" dirty="0"/>
              <a:t>. </a:t>
            </a:r>
            <a:r>
              <a:rPr lang="en-US" sz="2400" dirty="0" smtClean="0"/>
              <a:t>Codecs</a:t>
            </a:r>
            <a:r>
              <a:rPr lang="en-US" sz="2400" dirty="0"/>
              <a:t> </a:t>
            </a:r>
          </a:p>
          <a:p>
            <a:r>
              <a:rPr lang="en-US" sz="2400" dirty="0"/>
              <a:t>Used for compressing and decompressing media</a:t>
            </a:r>
            <a:r>
              <a:rPr lang="en-US" sz="2400" dirty="0" smtClean="0"/>
              <a:t>:</a:t>
            </a:r>
            <a:r>
              <a:rPr lang="en-US" sz="2400" dirty="0"/>
              <a:t> </a:t>
            </a:r>
          </a:p>
          <a:p>
            <a:r>
              <a:rPr lang="en-US" sz="2400" dirty="0"/>
              <a:t>Video: H.264, H.265, </a:t>
            </a:r>
            <a:r>
              <a:rPr lang="en-US" sz="2400" dirty="0" smtClean="0"/>
              <a:t>VP9</a:t>
            </a:r>
            <a:r>
              <a:rPr lang="en-US" sz="2400" dirty="0"/>
              <a:t> </a:t>
            </a:r>
          </a:p>
          <a:p>
            <a:r>
              <a:rPr lang="en-US" sz="2400" dirty="0"/>
              <a:t>Audio: MP3, AAC, WAV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Images</a:t>
            </a:r>
            <a:r>
              <a:rPr lang="en-US" sz="2400" dirty="0"/>
              <a:t>: JPEG, PNG, </a:t>
            </a:r>
            <a:r>
              <a:rPr lang="en-US" sz="2400" dirty="0" smtClean="0"/>
              <a:t>GIF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203698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dirty="0"/>
              <a:t>E. Plugins and </a:t>
            </a:r>
            <a:r>
              <a:rPr lang="en-US" sz="2800" dirty="0" smtClean="0"/>
              <a:t>Runtimes; Provide </a:t>
            </a:r>
            <a:r>
              <a:rPr lang="en-US" sz="2800" dirty="0"/>
              <a:t>extra capabilities:</a:t>
            </a:r>
          </a:p>
          <a:p>
            <a:r>
              <a:rPr lang="en-US" sz="2800" dirty="0" smtClean="0"/>
              <a:t>Rendering </a:t>
            </a:r>
            <a:r>
              <a:rPr lang="en-US" sz="2800" dirty="0"/>
              <a:t>plugins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Browser </a:t>
            </a:r>
            <a:r>
              <a:rPr lang="en-US" sz="2800" dirty="0"/>
              <a:t>plugins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Game </a:t>
            </a:r>
            <a:r>
              <a:rPr lang="en-US" sz="2800" dirty="0"/>
              <a:t>engines</a:t>
            </a:r>
          </a:p>
          <a:p>
            <a:r>
              <a:rPr lang="en-US" sz="2800" dirty="0"/>
              <a:t> </a:t>
            </a:r>
            <a:r>
              <a:rPr lang="en-US" sz="2800" dirty="0" smtClean="0"/>
              <a:t>Flash/Java </a:t>
            </a:r>
            <a:r>
              <a:rPr lang="en-US" sz="2800" dirty="0"/>
              <a:t>runtimes (historically)</a:t>
            </a:r>
          </a:p>
          <a:p>
            <a:r>
              <a:rPr lang="en-US" sz="2800" dirty="0"/>
              <a:t> 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309086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6. Overview of Multimedia </a:t>
            </a:r>
            <a:r>
              <a:rPr lang="en-US" sz="2400" dirty="0" smtClean="0"/>
              <a:t>Platforms; Multimedia </a:t>
            </a:r>
            <a:r>
              <a:rPr lang="en-US" sz="2400" dirty="0"/>
              <a:t>applications run on three main platforms:</a:t>
            </a:r>
          </a:p>
          <a:p>
            <a:pPr marL="0" indent="0">
              <a:buNone/>
            </a:pPr>
            <a:r>
              <a:rPr lang="en-US" sz="2400" dirty="0" smtClean="0"/>
              <a:t>A</a:t>
            </a:r>
            <a:r>
              <a:rPr lang="en-US" sz="2400" dirty="0"/>
              <a:t>. Desktop Multimedia </a:t>
            </a:r>
            <a:r>
              <a:rPr lang="en-US" sz="2400" dirty="0" smtClean="0"/>
              <a:t>Platforms; Applications </a:t>
            </a:r>
            <a:r>
              <a:rPr lang="en-US" sz="2400" dirty="0"/>
              <a:t>for Windows, </a:t>
            </a:r>
            <a:r>
              <a:rPr lang="en-US" sz="2400" dirty="0" err="1"/>
              <a:t>macOS</a:t>
            </a:r>
            <a:r>
              <a:rPr lang="en-US" sz="2400" dirty="0"/>
              <a:t>, Linux: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Desktop </a:t>
            </a:r>
            <a:r>
              <a:rPr lang="en-US" sz="2400" dirty="0"/>
              <a:t>video editors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Music </a:t>
            </a:r>
            <a:r>
              <a:rPr lang="en-US" sz="2400" dirty="0"/>
              <a:t>production software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PC </a:t>
            </a:r>
            <a:r>
              <a:rPr lang="en-US" sz="2400" dirty="0"/>
              <a:t>games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Presentation </a:t>
            </a:r>
            <a:r>
              <a:rPr lang="en-US" sz="2400" dirty="0"/>
              <a:t>tools</a:t>
            </a:r>
          </a:p>
          <a:p>
            <a:pPr marL="0" indent="0">
              <a:buNone/>
            </a:pPr>
            <a:r>
              <a:rPr lang="en-US" sz="2400" dirty="0" smtClean="0"/>
              <a:t>Benefit</a:t>
            </a:r>
            <a:r>
              <a:rPr lang="en-US" sz="2400" dirty="0"/>
              <a:t>: High performance and storage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51736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B. Web Multimedia </a:t>
            </a:r>
            <a:r>
              <a:rPr lang="en-US" sz="2400" dirty="0" smtClean="0"/>
              <a:t>Platforms; Run </a:t>
            </a:r>
            <a:r>
              <a:rPr lang="en-US" sz="2400" dirty="0"/>
              <a:t>inside web browsers using: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HTML5</a:t>
            </a:r>
            <a:endParaRPr lang="en-US" sz="2400" dirty="0"/>
          </a:p>
          <a:p>
            <a:r>
              <a:rPr lang="en-US" sz="2400" dirty="0"/>
              <a:t> </a:t>
            </a:r>
            <a:r>
              <a:rPr lang="en-US" sz="2400" dirty="0" smtClean="0"/>
              <a:t>CSS3</a:t>
            </a:r>
            <a:r>
              <a:rPr lang="en-US" sz="2400" dirty="0"/>
              <a:t> </a:t>
            </a:r>
          </a:p>
          <a:p>
            <a:r>
              <a:rPr lang="en-US" sz="2400" dirty="0"/>
              <a:t>JavaScript</a:t>
            </a:r>
          </a:p>
          <a:p>
            <a:r>
              <a:rPr lang="en-US" sz="2400" dirty="0"/>
              <a:t> </a:t>
            </a:r>
            <a:r>
              <a:rPr lang="en-US" sz="2400" dirty="0" err="1" smtClean="0"/>
              <a:t>WebGL</a:t>
            </a:r>
            <a:r>
              <a:rPr lang="en-US" sz="2400" dirty="0" smtClean="0"/>
              <a:t> </a:t>
            </a:r>
            <a:r>
              <a:rPr lang="en-US" sz="2400" dirty="0"/>
              <a:t>(3D graphics)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Web </a:t>
            </a:r>
            <a:r>
              <a:rPr lang="en-US" sz="2400" dirty="0"/>
              <a:t>video players (YouTube)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HTML5 </a:t>
            </a:r>
            <a:r>
              <a:rPr lang="en-US" sz="2400" dirty="0"/>
              <a:t>replaced old plugins like Flash and Silverlight.</a:t>
            </a:r>
          </a:p>
          <a:p>
            <a:r>
              <a:rPr lang="en-US" sz="2400" dirty="0"/>
              <a:t> 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393148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en-US" sz="2400" dirty="0"/>
              <a:t>C. Mobile Multimedia </a:t>
            </a:r>
            <a:r>
              <a:rPr lang="en-US" sz="2400" dirty="0" smtClean="0"/>
              <a:t>Platforms</a:t>
            </a:r>
            <a:r>
              <a:rPr lang="en-US" sz="2400" dirty="0"/>
              <a:t> </a:t>
            </a:r>
            <a:r>
              <a:rPr lang="en-US" sz="2400" dirty="0" smtClean="0"/>
              <a:t>; Applications </a:t>
            </a:r>
            <a:r>
              <a:rPr lang="en-US" sz="2400" dirty="0"/>
              <a:t>on:</a:t>
            </a:r>
          </a:p>
          <a:p>
            <a:r>
              <a:rPr lang="en-US" sz="2400" dirty="0" smtClean="0"/>
              <a:t>Android</a:t>
            </a:r>
            <a:endParaRPr lang="en-US" sz="2400" dirty="0"/>
          </a:p>
          <a:p>
            <a:r>
              <a:rPr lang="en-US" sz="2400" dirty="0"/>
              <a:t> </a:t>
            </a:r>
            <a:r>
              <a:rPr lang="en-US" sz="2400" dirty="0" smtClean="0"/>
              <a:t>iOS</a:t>
            </a:r>
            <a:endParaRPr lang="en-US" sz="2400" dirty="0"/>
          </a:p>
          <a:p>
            <a:pPr marL="0" indent="0">
              <a:buNone/>
            </a:pPr>
            <a:r>
              <a:rPr lang="en-US" sz="2400" dirty="0" smtClean="0"/>
              <a:t>Used </a:t>
            </a:r>
            <a:r>
              <a:rPr lang="en-US" sz="2400" dirty="0"/>
              <a:t>for: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Gaming</a:t>
            </a:r>
            <a:endParaRPr lang="en-US" sz="2400" dirty="0"/>
          </a:p>
          <a:p>
            <a:r>
              <a:rPr lang="en-US" sz="2400" dirty="0"/>
              <a:t> </a:t>
            </a:r>
            <a:r>
              <a:rPr lang="en-US" sz="2400" dirty="0" smtClean="0"/>
              <a:t>Video </a:t>
            </a:r>
            <a:r>
              <a:rPr lang="en-US" sz="2400" dirty="0"/>
              <a:t>recording/editing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Social </a:t>
            </a:r>
            <a:r>
              <a:rPr lang="en-US" sz="2400" dirty="0"/>
              <a:t>media</a:t>
            </a:r>
          </a:p>
          <a:p>
            <a:r>
              <a:rPr lang="en-US" sz="2400" dirty="0"/>
              <a:t> </a:t>
            </a:r>
            <a:r>
              <a:rPr lang="en-US" sz="2400" dirty="0" smtClean="0"/>
              <a:t>AR/VR </a:t>
            </a:r>
            <a:r>
              <a:rPr lang="en-US" sz="2400" dirty="0"/>
              <a:t>mobile </a:t>
            </a:r>
            <a:r>
              <a:rPr lang="en-US" sz="2400" dirty="0" smtClean="0"/>
              <a:t>apps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43026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 Basic Architecture of a Multimedia System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1790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185</TotalTime>
  <Words>1036</Words>
  <Application>Microsoft Office PowerPoint</Application>
  <PresentationFormat>Widescreen</PresentationFormat>
  <Paragraphs>164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Calibri</vt:lpstr>
      <vt:lpstr>Trebuchet MS</vt:lpstr>
      <vt:lpstr>Wingdings 3</vt:lpstr>
      <vt:lpstr>Facet</vt:lpstr>
      <vt:lpstr>MULTIMEDIA SYSTEMS ASND APPLICATIONS</vt:lpstr>
      <vt:lpstr>CONCEPT OF MULTIMEDIA SYSTEMS</vt:lpstr>
      <vt:lpstr>FEATURES OF MULTIMEDIA SYSTEMS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  <vt:lpstr> Basic Architecture of a Multimedia System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MULTIMEDIA SYSTEMS AND APPLICATIONS</dc:title>
  <dc:creator>DARIUS</dc:creator>
  <cp:lastModifiedBy>DARIUS</cp:lastModifiedBy>
  <cp:revision>14</cp:revision>
  <dcterms:created xsi:type="dcterms:W3CDTF">2025-12-02T00:48:49Z</dcterms:created>
  <dcterms:modified xsi:type="dcterms:W3CDTF">2025-12-02T04:10:29Z</dcterms:modified>
</cp:coreProperties>
</file>