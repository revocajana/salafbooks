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20"/>
  </p:notesMasterIdLst>
  <p:sldIdLst>
    <p:sldId id="278" r:id="rId2"/>
    <p:sldId id="257" r:id="rId3"/>
    <p:sldId id="259" r:id="rId4"/>
    <p:sldId id="261" r:id="rId5"/>
    <p:sldId id="262" r:id="rId6"/>
    <p:sldId id="263" r:id="rId7"/>
    <p:sldId id="273" r:id="rId8"/>
    <p:sldId id="264" r:id="rId9"/>
    <p:sldId id="265" r:id="rId10"/>
    <p:sldId id="266" r:id="rId11"/>
    <p:sldId id="267" r:id="rId12"/>
    <p:sldId id="274" r:id="rId13"/>
    <p:sldId id="269" r:id="rId14"/>
    <p:sldId id="275" r:id="rId15"/>
    <p:sldId id="270" r:id="rId16"/>
    <p:sldId id="276" r:id="rId17"/>
    <p:sldId id="271" r:id="rId18"/>
    <p:sldId id="27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50" autoAdjust="0"/>
    <p:restoredTop sz="94660"/>
  </p:normalViewPr>
  <p:slideViewPr>
    <p:cSldViewPr snapToGrid="0">
      <p:cViewPr>
        <p:scale>
          <a:sx n="50" d="100"/>
          <a:sy n="50" d="100"/>
        </p:scale>
        <p:origin x="165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0B9D4-E5D3-48E8-890C-B78576AA9771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55578-9A74-4323-B55B-E73869A50F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1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55578-9A74-4323-B55B-E73869A50F1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0991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657300"/>
      </p:ext>
    </p:extLst>
  </p:cSld>
  <p:clrMapOvr>
    <a:masterClrMapping/>
  </p:clrMapOvr>
  <p:transition spd="slow">
    <p:circl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335864"/>
      </p:ext>
    </p:extLst>
  </p:cSld>
  <p:clrMapOvr>
    <a:masterClrMapping/>
  </p:clrMapOvr>
  <p:transition spd="slow">
    <p:circl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465499"/>
      </p:ext>
    </p:extLst>
  </p:cSld>
  <p:clrMapOvr>
    <a:masterClrMapping/>
  </p:clrMapOvr>
  <p:transition spd="slow">
    <p:circl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985941"/>
      </p:ext>
    </p:extLst>
  </p:cSld>
  <p:clrMapOvr>
    <a:masterClrMapping/>
  </p:clrMapOvr>
  <p:transition spd="slow">
    <p:circl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956201"/>
      </p:ext>
    </p:extLst>
  </p:cSld>
  <p:clrMapOvr>
    <a:masterClrMapping/>
  </p:clrMapOvr>
  <p:transition spd="slow">
    <p:circl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765546"/>
      </p:ext>
    </p:extLst>
  </p:cSld>
  <p:clrMapOvr>
    <a:masterClrMapping/>
  </p:clrMapOvr>
  <p:transition spd="slow">
    <p:circl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683993"/>
      </p:ext>
    </p:extLst>
  </p:cSld>
  <p:clrMapOvr>
    <a:masterClrMapping/>
  </p:clrMapOvr>
  <p:transition spd="slow">
    <p:circl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828236"/>
      </p:ext>
    </p:extLst>
  </p:cSld>
  <p:clrMapOvr>
    <a:masterClrMapping/>
  </p:clrMapOvr>
  <p:transition spd="slow">
    <p:circl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241780"/>
      </p:ext>
    </p:extLst>
  </p:cSld>
  <p:clrMapOvr>
    <a:masterClrMapping/>
  </p:clrMapOvr>
  <p:transition spd="slow">
    <p:circl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509255"/>
      </p:ext>
    </p:extLst>
  </p:cSld>
  <p:clrMapOvr>
    <a:masterClrMapping/>
  </p:clrMapOvr>
  <p:transition spd="slow">
    <p:circl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492306"/>
      </p:ext>
    </p:extLst>
  </p:cSld>
  <p:clrMapOvr>
    <a:masterClrMapping/>
  </p:clrMapOvr>
  <p:transition spd="slow">
    <p:circl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588919"/>
      </p:ext>
    </p:extLst>
  </p:cSld>
  <p:clrMapOvr>
    <a:masterClrMapping/>
  </p:clrMapOvr>
  <p:transition spd="slow">
    <p:circl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6999315"/>
      </p:ext>
    </p:extLst>
  </p:cSld>
  <p:clrMapOvr>
    <a:masterClrMapping/>
  </p:clrMapOvr>
  <p:transition spd="slow">
    <p:circl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622103"/>
      </p:ext>
    </p:extLst>
  </p:cSld>
  <p:clrMapOvr>
    <a:masterClrMapping/>
  </p:clrMapOvr>
  <p:transition spd="slow">
    <p:circl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645924"/>
      </p:ext>
    </p:extLst>
  </p:cSld>
  <p:clrMapOvr>
    <a:masterClrMapping/>
  </p:clrMapOvr>
  <p:transition spd="slow">
    <p:circl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330290"/>
      </p:ext>
    </p:extLst>
  </p:cSld>
  <p:clrMapOvr>
    <a:masterClrMapping/>
  </p:clrMapOvr>
  <p:transition spd="slow">
    <p:circl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569678"/>
      </p:ext>
    </p:extLst>
  </p:cSld>
  <p:clrMapOvr>
    <a:masterClrMapping/>
  </p:clrMapOvr>
  <p:transition spd="slow">
    <p:circl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3FF9-A1BA-7F1C-2BE8-13F20298B9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E6104-5207-ABFC-D603-3A0AA11E6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buFontTx/>
              <a:buNone/>
              <a:defRPr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751C6-8682-D9D7-C572-72CB50670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2C95-C64D-439F-BF67-7590872811E5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035C9-615D-A3F9-FCAD-77171AA1C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B1BB9-54DA-C249-A9CB-0804D127B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C33BE-0F3F-41A3-A884-0E14A9FA32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21946"/>
      </p:ext>
    </p:extLst>
  </p:cSld>
  <p:clrMapOvr>
    <a:masterClrMapping/>
  </p:clrMapOvr>
  <p:transition spd="slow">
    <p:circl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37962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873B217-3095-41B6-8AE7-E453143D28E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D0D590-E493-4A5F-9AEF-814A6B390C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005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</p:sldLayoutIdLst>
  <p:transition spd="slow">
    <p:circl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Tx/>
        <a:buNone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Tx/>
        <a:buNone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Tx/>
        <a:buNone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Tx/>
        <a:buNone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Tx/>
        <a:buNone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94AC16-A53B-5E99-1943-E25F03E36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2060"/>
                </a:solidFill>
              </a:rPr>
              <a:t>SOFTWARE REQUIREMENTS SPECIFICATION (SRS)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6D6C81-B11E-C5B8-157C-D9F9FC187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400" dirty="0">
                <a:solidFill>
                  <a:srgbClr val="002060"/>
                </a:solidFill>
              </a:rPr>
              <a:t>Group No: 3</a:t>
            </a:r>
          </a:p>
        </p:txBody>
      </p:sp>
    </p:spTree>
    <p:extLst>
      <p:ext uri="{BB962C8B-B14F-4D97-AF65-F5344CB8AC3E}">
        <p14:creationId xmlns:p14="http://schemas.microsoft.com/office/powerpoint/2010/main" val="833928991"/>
      </p:ext>
    </p:extLst>
  </p:cSld>
  <p:clrMapOvr>
    <a:masterClrMapping/>
  </p:clrMapOvr>
  <p:transition spd="slow">
    <p:circl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7B4B-73BC-403A-06B2-216E2DDE0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04850"/>
            <a:ext cx="9601196" cy="1257301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accent3"/>
                </a:solidFill>
              </a:rPr>
              <a:t>SOFTWARE REQUIREMENT SPECIFICATION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D918-4DF8-768C-1AF2-7571A3728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350" y="1962151"/>
            <a:ext cx="10553700" cy="4190999"/>
          </a:xfrm>
        </p:spPr>
        <p:txBody>
          <a:bodyPr>
            <a:norm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accent3"/>
                </a:solidFill>
              </a:rPr>
              <a:t>Definition</a:t>
            </a:r>
          </a:p>
          <a:p>
            <a:pPr lvl="0"/>
            <a:r>
              <a:rPr lang="en-GB" dirty="0">
                <a:solidFill>
                  <a:schemeClr val="accent3"/>
                </a:solidFill>
              </a:rPr>
              <a:t>SRS is a comprehensive document that describes what a software system will                      do and how it will be expected to perform.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accent3"/>
                </a:solidFill>
              </a:rPr>
              <a:t>It serves as a blueprint for the development team and a contract between the stakeholders and the developers.</a:t>
            </a:r>
            <a:br>
              <a:rPr lang="en-GB" dirty="0">
                <a:solidFill>
                  <a:schemeClr val="accent3"/>
                </a:solidFill>
              </a:rPr>
            </a:br>
            <a:r>
              <a:rPr lang="en-GB" dirty="0">
                <a:solidFill>
                  <a:schemeClr val="accent3"/>
                </a:solidFill>
              </a:rPr>
              <a:t>It clearly defines functional and non-functional requirements, constraints, and system behaviour before development begins.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accent3"/>
                </a:solidFill>
              </a:rPr>
              <a:t>In simple words:</a:t>
            </a:r>
            <a:br>
              <a:rPr lang="en-GB" dirty="0">
                <a:solidFill>
                  <a:schemeClr val="accent3"/>
                </a:solidFill>
              </a:rPr>
            </a:br>
            <a:r>
              <a:rPr lang="en-GB" dirty="0">
                <a:solidFill>
                  <a:schemeClr val="accent3"/>
                </a:solidFill>
              </a:rPr>
              <a:t>SRS focuses on “WHAT” the system should do, not “HOW” it will be built.</a:t>
            </a:r>
          </a:p>
        </p:txBody>
      </p:sp>
    </p:spTree>
    <p:extLst>
      <p:ext uri="{BB962C8B-B14F-4D97-AF65-F5344CB8AC3E}">
        <p14:creationId xmlns:p14="http://schemas.microsoft.com/office/powerpoint/2010/main" val="2918068678"/>
      </p:ext>
    </p:extLst>
  </p:cSld>
  <p:clrMapOvr>
    <a:masterClrMapping/>
  </p:clrMapOvr>
  <p:transition spd="slow">
    <p:circl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BE110-9F20-0AAF-4179-D7D51BC08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Requirements vs Specifications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E0505-BED8-8C3D-E497-EDB497396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Requirements = What </a:t>
            </a:r>
            <a:r>
              <a:rPr lang="en-GB" b="0" i="0" u="none" strike="noStrike" kern="100" baseline="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</a:rPr>
              <a:t>stakeholders need.</a:t>
            </a:r>
          </a:p>
          <a:p>
            <a:pPr marR="0" lvl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Specifications = Exact description of system behaviour.</a:t>
            </a:r>
          </a:p>
        </p:txBody>
      </p:sp>
    </p:spTree>
    <p:extLst>
      <p:ext uri="{BB962C8B-B14F-4D97-AF65-F5344CB8AC3E}">
        <p14:creationId xmlns:p14="http://schemas.microsoft.com/office/powerpoint/2010/main" val="386559839"/>
      </p:ext>
    </p:extLst>
  </p:cSld>
  <p:clrMapOvr>
    <a:masterClrMapping/>
  </p:clrMapOvr>
  <p:transition spd="slow">
    <p:circl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6D2DD-90A9-597B-6DFE-7ED4D3F46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04799"/>
            <a:ext cx="9601196" cy="1600201"/>
          </a:xfrm>
        </p:spPr>
        <p:txBody>
          <a:bodyPr/>
          <a:lstStyle/>
          <a:p>
            <a:pPr marR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Purpose of an SRS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BB565-1F77-6AA9-14F5-B38EE4807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9651" y="2095500"/>
            <a:ext cx="9886947" cy="4104218"/>
          </a:xfrm>
        </p:spPr>
        <p:txBody>
          <a:bodyPr>
            <a:normAutofit/>
          </a:bodyPr>
          <a:lstStyle/>
          <a:p>
            <a:pPr marR="0" lvl="0" rtl="0"/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1. Establish a Common Understanding Among Stakeholders</a:t>
            </a:r>
          </a:p>
          <a:p>
            <a:pPr marR="0" lvl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The SRS provides a single, agreed-upon reference point for:</a:t>
            </a:r>
          </a:p>
          <a:p>
            <a:pPr marL="342900" marR="0" lvl="0" indent="-342900" rtl="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Clients</a:t>
            </a:r>
          </a:p>
          <a:p>
            <a:pPr marL="342900" marR="0" lvl="0" indent="-342900" rtl="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End users</a:t>
            </a:r>
          </a:p>
          <a:p>
            <a:pPr marL="342900" marR="0" lvl="0" indent="-342900" rtl="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Developers</a:t>
            </a:r>
          </a:p>
          <a:p>
            <a:pPr marL="342900" marR="0" lvl="0" indent="-342900" rtl="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Testers</a:t>
            </a:r>
          </a:p>
          <a:p>
            <a:pPr marL="342900" marR="0" lvl="0" indent="-342900" rtl="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Project managers</a:t>
            </a:r>
          </a:p>
          <a:p>
            <a:pPr marR="0" lvl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This prevents misunderstandings caused by verbal or informal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504747405"/>
      </p:ext>
    </p:extLst>
  </p:cSld>
  <p:clrMapOvr>
    <a:masterClrMapping/>
  </p:clrMapOvr>
  <p:transition spd="slow">
    <p:circl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67AA-7144-4AE5-D66A-74C93A21C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71451"/>
            <a:ext cx="9601196" cy="1771650"/>
          </a:xfrm>
        </p:spPr>
        <p:txBody>
          <a:bodyPr/>
          <a:lstStyle/>
          <a:p>
            <a:pPr marR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Continue…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B6D43-C284-C279-355B-C9AB0D008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750" y="1943101"/>
            <a:ext cx="10344150" cy="4210049"/>
          </a:xfrm>
        </p:spPr>
        <p:txBody>
          <a:bodyPr>
            <a:noAutofit/>
          </a:bodyPr>
          <a:lstStyle/>
          <a:p>
            <a:pPr marR="0" lvl="0" rtl="0"/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2. Serve as a Contractual Agreement</a:t>
            </a:r>
          </a:p>
          <a:p>
            <a:pPr lvl="1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Once approved, the SRS acts as a formal contract between the client and the development team.</a:t>
            </a:r>
            <a:b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Any feature not specified in the SRS is considered out of scope unless formally changed.</a:t>
            </a:r>
          </a:p>
          <a:p>
            <a:pPr marR="0" lvl="0" rtl="0"/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3. Provide a Basis for System Design</a:t>
            </a:r>
          </a:p>
          <a:p>
            <a:pPr lvl="1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The system architecture, database design, and user interface design are all derived from the SRS.</a:t>
            </a:r>
            <a:b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Design decisions must satisfy the requirements defined in the SRS.</a:t>
            </a:r>
          </a:p>
        </p:txBody>
      </p:sp>
    </p:spTree>
    <p:extLst>
      <p:ext uri="{BB962C8B-B14F-4D97-AF65-F5344CB8AC3E}">
        <p14:creationId xmlns:p14="http://schemas.microsoft.com/office/powerpoint/2010/main" val="1898230258"/>
      </p:ext>
    </p:extLst>
  </p:cSld>
  <p:clrMapOvr>
    <a:masterClrMapping/>
  </p:clrMapOvr>
  <p:transition spd="slow">
    <p:circl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11E-3D1B-EF76-BCCE-55F579213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14349"/>
            <a:ext cx="9601196" cy="1123951"/>
          </a:xfrm>
        </p:spPr>
        <p:txBody>
          <a:bodyPr/>
          <a:lstStyle/>
          <a:p>
            <a:pPr marR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Continue…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3DB6D-1E82-ADA5-6694-A6FDADE9A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2" y="1790700"/>
            <a:ext cx="9982198" cy="4248150"/>
          </a:xfrm>
        </p:spPr>
        <p:txBody>
          <a:bodyPr>
            <a:noAutofit/>
          </a:bodyPr>
          <a:lstStyle/>
          <a:p>
            <a:pPr lvl="0"/>
            <a:r>
              <a:rPr lang="en-GB" b="1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4. Guide Software Development (Implementation)</a:t>
            </a:r>
          </a:p>
          <a:p>
            <a:pPr lvl="1"/>
            <a:r>
              <a:rPr lang="en-GB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Developers use the SRS as a technical reference to ensure that: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GB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All required functionalities are implemented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GB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No unnecessary features are added</a:t>
            </a:r>
          </a:p>
          <a:p>
            <a:pPr lvl="1"/>
            <a:r>
              <a:rPr lang="en-GB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This improves development efficiency and accuracy.</a:t>
            </a:r>
            <a:endParaRPr lang="en-GB" b="1" i="0" u="none" strike="noStrike" kern="100" baseline="0" dirty="0">
              <a:solidFill>
                <a:srgbClr val="2F5496"/>
              </a:solidFill>
              <a:latin typeface="Times New Roman" panose="02020603050405020304" pitchFamily="18" charset="0"/>
            </a:endParaRPr>
          </a:p>
          <a:p>
            <a:pPr marR="0" lvl="0" rtl="0"/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5. Support Verification and Validation (Testing)</a:t>
            </a:r>
          </a:p>
          <a:p>
            <a:pPr lvl="1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The SRS provides a </a:t>
            </a: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baseline for test case creation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.</a:t>
            </a:r>
            <a:b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</a:b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Each requirement in the SRS should have corresponding test cases.</a:t>
            </a:r>
          </a:p>
        </p:txBody>
      </p:sp>
    </p:spTree>
    <p:extLst>
      <p:ext uri="{BB962C8B-B14F-4D97-AF65-F5344CB8AC3E}">
        <p14:creationId xmlns:p14="http://schemas.microsoft.com/office/powerpoint/2010/main" val="3303005558"/>
      </p:ext>
    </p:extLst>
  </p:cSld>
  <p:clrMapOvr>
    <a:masterClrMapping/>
  </p:clrMapOvr>
  <p:transition spd="slow">
    <p:circl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D811A-2360-A72A-F897-5AFB5879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476251"/>
            <a:ext cx="9601196" cy="1295400"/>
          </a:xfrm>
        </p:spPr>
        <p:txBody>
          <a:bodyPr/>
          <a:lstStyle/>
          <a:p>
            <a:r>
              <a:rPr lang="en-GB" b="0" kern="100" dirty="0">
                <a:solidFill>
                  <a:srgbClr val="2F5496"/>
                </a:solidFill>
              </a:rPr>
              <a:t>Continue…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F1849-D8F7-7483-15F1-1AE5E2E90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2" y="1600201"/>
            <a:ext cx="9601196" cy="4610097"/>
          </a:xfrm>
        </p:spPr>
        <p:txBody>
          <a:bodyPr>
            <a:noAutofit/>
          </a:bodyPr>
          <a:lstStyle/>
          <a:p>
            <a:pPr lvl="0"/>
            <a:r>
              <a:rPr lang="en-GB" b="1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6. Assist in Project Planning and Estimation</a:t>
            </a:r>
          </a:p>
          <a:p>
            <a:pPr lvl="1"/>
            <a:r>
              <a:rPr lang="en-GB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Project managers use the SRS to:</a:t>
            </a:r>
          </a:p>
          <a:p>
            <a:pPr lvl="1"/>
            <a:r>
              <a:rPr lang="en-GB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Estimate cost and time, Allocate resources , Identify risks</a:t>
            </a:r>
          </a:p>
          <a:p>
            <a:pPr lvl="1"/>
            <a:r>
              <a:rPr lang="en-GB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A well-defined SRS improves project scheduling accuracy.</a:t>
            </a:r>
          </a:p>
          <a:p>
            <a:pPr lvl="0"/>
            <a:r>
              <a:rPr lang="en-GB" b="1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7. Facilitate System Maintenance and Evolution</a:t>
            </a:r>
          </a:p>
          <a:p>
            <a:pPr lvl="1"/>
            <a:r>
              <a:rPr lang="en-GB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After deployment, the SRS helps maintenance teams: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GB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Understand system functionality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GB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Implement enhancements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GB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Fix defects without ambiguity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0613296"/>
      </p:ext>
    </p:extLst>
  </p:cSld>
  <p:clrMapOvr>
    <a:masterClrMapping/>
  </p:clrMapOvr>
  <p:transition spd="slow">
    <p:circl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AD76-A7E6-5442-867F-4F4F90A3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28651"/>
            <a:ext cx="9601196" cy="952500"/>
          </a:xfrm>
        </p:spPr>
        <p:txBody>
          <a:bodyPr/>
          <a:lstStyle/>
          <a:p>
            <a:pPr marR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COMPONENTS OF AN SRS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869-22A0-6F90-5695-F2E5990C8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581151"/>
            <a:ext cx="11277600" cy="4419599"/>
          </a:xfrm>
        </p:spPr>
        <p:txBody>
          <a:bodyPr>
            <a:normAutofit fontScale="92500" lnSpcReduction="20000"/>
          </a:bodyPr>
          <a:lstStyle/>
          <a:p>
            <a:pPr marR="0" lvl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A standard SRS (often based on the IEEE 830 standard) is generally divided into three main sections:</a:t>
            </a:r>
          </a:p>
          <a:p>
            <a:pPr marR="0" lvl="0" rtl="0"/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A. Introduction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Purpose: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Who is this document for?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Scope: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What will the software do (and just as importantly, what will it </a:t>
            </a: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not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do)?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Definitions/Acronyms: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A glossary to ensure everyone understands technical terms.</a:t>
            </a:r>
          </a:p>
          <a:p>
            <a:pPr marR="0" lvl="0" rtl="0"/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B. Overall Description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Product Perspective: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Is this a standalone product or part of a larger system?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User Classes: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Who are the different types of users (Admin, Guest, Editor)?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Operating Environment: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Which OS, browsers, or hardware are required?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Constraints: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Regulatory policies, hardware limitations, or budget caps.</a:t>
            </a:r>
          </a:p>
        </p:txBody>
      </p:sp>
    </p:spTree>
    <p:extLst>
      <p:ext uri="{BB962C8B-B14F-4D97-AF65-F5344CB8AC3E}">
        <p14:creationId xmlns:p14="http://schemas.microsoft.com/office/powerpoint/2010/main" val="106666372"/>
      </p:ext>
    </p:extLst>
  </p:cSld>
  <p:clrMapOvr>
    <a:masterClrMapping/>
  </p:clrMapOvr>
  <p:transition spd="slow">
    <p:circl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4239-4F32-838C-0D29-C8F6D8FB3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457201"/>
            <a:ext cx="9601196" cy="1466850"/>
          </a:xfrm>
        </p:spPr>
        <p:txBody>
          <a:bodyPr/>
          <a:lstStyle/>
          <a:p>
            <a:pPr marR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Continue…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BCBF6-4E9E-A0AD-384D-2EAB38D07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924051"/>
            <a:ext cx="10248899" cy="3951817"/>
          </a:xfrm>
        </p:spPr>
        <p:txBody>
          <a:bodyPr>
            <a:normAutofit/>
          </a:bodyPr>
          <a:lstStyle/>
          <a:p>
            <a:pPr marR="0" lvl="0" rtl="0"/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C. Specific Requirements</a:t>
            </a:r>
          </a:p>
          <a:p>
            <a:pPr marR="0" lvl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This is the "meat" of the document, usually categorized into two types: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Functional Requirements: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These define </a:t>
            </a: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what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the system does.</a:t>
            </a:r>
          </a:p>
          <a:p>
            <a:pPr lvl="1"/>
            <a:r>
              <a:rPr lang="en-GB" b="0" i="1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   Example: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"The system shall allow users to reset their password via email."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Non-Functional Requirements: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These define </a:t>
            </a: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how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the system performs (quality attributes).</a:t>
            </a:r>
          </a:p>
          <a:p>
            <a:pPr lvl="1"/>
            <a:r>
              <a:rPr lang="en-GB" b="0" i="1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   Example: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"The system must load pages within 2 seconds" (Performance) or            "Data must be encrypted using AES-256" (Security).</a:t>
            </a:r>
          </a:p>
        </p:txBody>
      </p:sp>
    </p:spTree>
    <p:extLst>
      <p:ext uri="{BB962C8B-B14F-4D97-AF65-F5344CB8AC3E}">
        <p14:creationId xmlns:p14="http://schemas.microsoft.com/office/powerpoint/2010/main" val="2770686036"/>
      </p:ext>
    </p:extLst>
  </p:cSld>
  <p:clrMapOvr>
    <a:masterClrMapping/>
  </p:clrMapOvr>
  <p:transition spd="slow">
    <p:circl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0FAB-474C-25C1-0E05-2F72854C3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90501"/>
            <a:ext cx="9601196" cy="1314450"/>
          </a:xfrm>
        </p:spPr>
        <p:txBody>
          <a:bodyPr/>
          <a:lstStyle/>
          <a:p>
            <a:pPr marR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Characteristics of a Great SRS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2FF3A-45B1-6C38-4BC6-7C795516E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1504951"/>
            <a:ext cx="11239500" cy="4656666"/>
          </a:xfrm>
        </p:spPr>
        <p:txBody>
          <a:bodyPr>
            <a:normAutofit fontScale="92500" lnSpcReduction="20000"/>
          </a:bodyPr>
          <a:lstStyle/>
          <a:p>
            <a:pPr marL="457200" marR="0" lvl="0" indent="-457200" rtl="0">
              <a:buAutoNum type="arabicPeriod"/>
            </a:pP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Correct</a:t>
            </a:r>
          </a:p>
          <a:p>
            <a:pPr marR="0" lvl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     An SRS is </a:t>
            </a: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correct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if every requirement accurately represents the </a:t>
            </a:r>
            <a:r>
              <a:rPr lang="en-GB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actual needs of </a:t>
            </a:r>
          </a:p>
          <a:p>
            <a:pPr marR="0" lvl="0" rtl="0"/>
            <a:r>
              <a:rPr lang="en-GB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     stakeholders.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Requirements must be validated with users and clients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No unnecessary or wrong requirements should be included</a:t>
            </a:r>
          </a:p>
          <a:p>
            <a:pPr lvl="1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</a:t>
            </a:r>
            <a:r>
              <a:rPr lang="en-GB" b="0" i="1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Meaning: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The system is solving the </a:t>
            </a: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right problem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.</a:t>
            </a:r>
          </a:p>
          <a:p>
            <a:pPr marR="0" lvl="0" rtl="0"/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2. Unambiguous</a:t>
            </a:r>
          </a:p>
          <a:p>
            <a:pPr lvl="1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An SRS is </a:t>
            </a:r>
            <a:r>
              <a:rPr lang="en-GB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unambiguous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when each requirement has </a:t>
            </a:r>
            <a:r>
              <a:rPr lang="en-GB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only one clear interpretation.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Avoid vague words such as </a:t>
            </a:r>
            <a:r>
              <a:rPr lang="en-GB" b="0" i="1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fast, easy, user-friendly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Use precise and measurable statements</a:t>
            </a:r>
          </a:p>
          <a:p>
            <a:pPr lvl="1"/>
            <a:r>
              <a:rPr lang="en-GB" b="0" i="1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Meaning: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Different readers understand the requirement </a:t>
            </a: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in the same way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9259983"/>
      </p:ext>
    </p:extLst>
  </p:cSld>
  <p:clrMapOvr>
    <a:masterClrMapping/>
  </p:clrMapOvr>
  <p:transition spd="slow">
    <p:circl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A83B4-891F-B67A-DB0D-3AE481DE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209551"/>
            <a:ext cx="9601196" cy="1562100"/>
          </a:xfrm>
        </p:spPr>
        <p:txBody>
          <a:bodyPr/>
          <a:lstStyle/>
          <a:p>
            <a:pPr marR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Continue…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77F82-FC2B-6918-CADF-7A18DC0A5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1638300"/>
            <a:ext cx="11029950" cy="4514850"/>
          </a:xfrm>
        </p:spPr>
        <p:txBody>
          <a:bodyPr>
            <a:normAutofit fontScale="92500" lnSpcReduction="10000"/>
          </a:bodyPr>
          <a:lstStyle/>
          <a:p>
            <a:pPr marR="0" lvl="0" rtl="0"/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3. Ranked (Prioritized)</a:t>
            </a:r>
          </a:p>
          <a:p>
            <a:pPr lvl="1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Requirements should be </a:t>
            </a: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ranked according to importance and stability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Critical requirements are implemented first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Less important or optional requirements are lower priority</a:t>
            </a:r>
          </a:p>
          <a:p>
            <a:pPr marR="0" lvl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</a:t>
            </a:r>
            <a:r>
              <a:rPr lang="en-GB" b="0" i="1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Meaning: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Helps in planning, scheduling, and handling limited resources.</a:t>
            </a:r>
          </a:p>
          <a:p>
            <a:pPr marR="0" lvl="0" rtl="0"/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4. Verifiable</a:t>
            </a:r>
          </a:p>
          <a:p>
            <a:pPr lvl="1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A requirement is </a:t>
            </a: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verifiable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if it can be </a:t>
            </a: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tested or measured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There must be a way to confirm that the requirement is satisfied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Verification can be done through testing, inspection, or analysis</a:t>
            </a:r>
          </a:p>
          <a:p>
            <a:pPr marR="0" lvl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</a:t>
            </a:r>
            <a:r>
              <a:rPr lang="en-GB" b="0" i="1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Meaning: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You can prove whether the system meets the requirement or not.</a:t>
            </a:r>
          </a:p>
          <a:p>
            <a:pPr marR="0" lvl="0" rtl="0"/>
            <a:endParaRPr lang="en-GB" kern="100" dirty="0">
              <a:solidFill>
                <a:srgbClr val="2F5496"/>
              </a:solidFill>
              <a:latin typeface="Times New Roman" panose="02020603050405020304" pitchFamily="18" charset="0"/>
            </a:endParaRPr>
          </a:p>
          <a:p>
            <a:pPr marR="0" lvl="0" rtl="0"/>
            <a:endParaRPr lang="en-GB" b="0" i="0" u="none" strike="noStrike" kern="100" baseline="0" dirty="0">
              <a:solidFill>
                <a:srgbClr val="2F5496"/>
              </a:solidFill>
              <a:latin typeface="Times New Roman" panose="02020603050405020304" pitchFamily="18" charset="0"/>
            </a:endParaRPr>
          </a:p>
          <a:p>
            <a:pPr marR="0" lvl="0" rtl="0"/>
            <a:endParaRPr lang="en-GB" kern="100" dirty="0">
              <a:solidFill>
                <a:srgbClr val="2F5496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endParaRPr lang="en-GB" b="0" i="0" u="none" strike="noStrike" kern="100" baseline="0" dirty="0">
              <a:solidFill>
                <a:srgbClr val="2F5496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107841"/>
      </p:ext>
    </p:extLst>
  </p:cSld>
  <p:clrMapOvr>
    <a:masterClrMapping/>
  </p:clrMapOvr>
  <p:transition spd="slow">
    <p:circl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D08AC-3A43-2E87-361D-37F1050EB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476250"/>
            <a:ext cx="9601196" cy="1181100"/>
          </a:xfrm>
        </p:spPr>
        <p:txBody>
          <a:bodyPr>
            <a:normAutofit/>
          </a:bodyPr>
          <a:lstStyle/>
          <a:p>
            <a:r>
              <a:rPr lang="en-GB" b="0" kern="100" dirty="0">
                <a:solidFill>
                  <a:srgbClr val="2F5496"/>
                </a:solidFill>
              </a:rPr>
              <a:t>Continue…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C3A13-9176-ADF3-FA3C-D316D5493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9650" y="1524000"/>
            <a:ext cx="11029950" cy="4495800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rgbClr val="002060"/>
                </a:solidFill>
              </a:rPr>
              <a:t>5. Modifiable</a:t>
            </a:r>
          </a:p>
          <a:p>
            <a:pPr lvl="1"/>
            <a:r>
              <a:rPr lang="en-GB" dirty="0">
                <a:solidFill>
                  <a:srgbClr val="002060"/>
                </a:solidFill>
              </a:rPr>
              <a:t>An SRS is modifiable if changes can be made easily and consistently.</a:t>
            </a:r>
          </a:p>
          <a:p>
            <a:pPr lvl="1"/>
            <a:r>
              <a:rPr lang="en-GB" dirty="0">
                <a:solidFill>
                  <a:srgbClr val="002060"/>
                </a:solidFill>
              </a:rPr>
              <a:t> </a:t>
            </a:r>
            <a:r>
              <a:rPr lang="en-GB" i="1" dirty="0">
                <a:solidFill>
                  <a:srgbClr val="002060"/>
                </a:solidFill>
              </a:rPr>
              <a:t>Meaning:</a:t>
            </a:r>
            <a:r>
              <a:rPr lang="en-GB" dirty="0">
                <a:solidFill>
                  <a:srgbClr val="002060"/>
                </a:solidFill>
              </a:rPr>
              <a:t> The document can evolve as requirements change.</a:t>
            </a:r>
          </a:p>
          <a:p>
            <a:r>
              <a:rPr lang="en-GB" b="1" dirty="0">
                <a:solidFill>
                  <a:srgbClr val="002060"/>
                </a:solidFill>
              </a:rPr>
              <a:t>6. Traceable</a:t>
            </a:r>
          </a:p>
          <a:p>
            <a:pPr lvl="1"/>
            <a:r>
              <a:rPr lang="en-GB" dirty="0">
                <a:solidFill>
                  <a:srgbClr val="002060"/>
                </a:solidFill>
              </a:rPr>
              <a:t>An SRS is </a:t>
            </a:r>
            <a:r>
              <a:rPr lang="en-GB" b="1" dirty="0">
                <a:solidFill>
                  <a:srgbClr val="002060"/>
                </a:solidFill>
              </a:rPr>
              <a:t>traceable</a:t>
            </a:r>
            <a:r>
              <a:rPr lang="en-GB" dirty="0">
                <a:solidFill>
                  <a:srgbClr val="002060"/>
                </a:solidFill>
              </a:rPr>
              <a:t> when each requirement can be tracked: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rgbClr val="002060"/>
                </a:solidFill>
              </a:rPr>
              <a:t>Backward → to its source (user need or business goal)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rgbClr val="002060"/>
                </a:solidFill>
              </a:rPr>
              <a:t>Forward → to design, code, and test cases</a:t>
            </a:r>
          </a:p>
          <a:p>
            <a:r>
              <a:rPr lang="en-GB" dirty="0">
                <a:solidFill>
                  <a:srgbClr val="002060"/>
                </a:solidFill>
              </a:rPr>
              <a:t>   </a:t>
            </a:r>
            <a:r>
              <a:rPr lang="en-GB" i="1" dirty="0">
                <a:solidFill>
                  <a:srgbClr val="002060"/>
                </a:solidFill>
              </a:rPr>
              <a:t>Meaning:</a:t>
            </a:r>
            <a:r>
              <a:rPr lang="en-GB" dirty="0">
                <a:solidFill>
                  <a:srgbClr val="002060"/>
                </a:solidFill>
              </a:rPr>
              <a:t> You know where a requirement came from and where it is implemented.</a:t>
            </a:r>
          </a:p>
          <a:p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726495"/>
      </p:ext>
    </p:extLst>
  </p:cSld>
  <p:clrMapOvr>
    <a:masterClrMapping/>
  </p:clrMapOvr>
  <p:transition spd="slow">
    <p:circl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6DD32-8E96-45C7-A62B-E0BC7374A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0"/>
            <a:ext cx="9601196" cy="2038349"/>
          </a:xfrm>
        </p:spPr>
        <p:txBody>
          <a:bodyPr/>
          <a:lstStyle/>
          <a:p>
            <a:pPr marR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Continue…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37F53-6A36-2C5B-5D66-8CE483FB5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6850" y="1714500"/>
            <a:ext cx="11182350" cy="4552950"/>
          </a:xfrm>
        </p:spPr>
        <p:txBody>
          <a:bodyPr>
            <a:normAutofit fontScale="92500" lnSpcReduction="10000"/>
          </a:bodyPr>
          <a:lstStyle/>
          <a:p>
            <a:pPr marR="0" lvl="0" rtl="0"/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7. Complete</a:t>
            </a:r>
          </a:p>
          <a:p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   An SRS is </a:t>
            </a:r>
            <a:r>
              <a:rPr lang="en-GB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complete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if it includes </a:t>
            </a:r>
            <a:r>
              <a:rPr lang="en-GB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all necessary requirements.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All functional requirements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All non-functional requirements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All interfaces, constraints, and assumptions</a:t>
            </a:r>
          </a:p>
          <a:p>
            <a:pPr marR="0" lvl="0" rtl="0"/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8. Consistent</a:t>
            </a:r>
          </a:p>
          <a:p>
            <a:pPr marR="0" lvl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  An SRS is </a:t>
            </a:r>
            <a:r>
              <a:rPr lang="en-GB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consistent 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when there are </a:t>
            </a:r>
            <a:r>
              <a:rPr lang="en-GB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no conflicting requirements.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Same terms are used throughout the document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No logical contradictions between requirements</a:t>
            </a:r>
          </a:p>
          <a:p>
            <a:pPr marR="0" lvl="0" rtl="0"/>
            <a:r>
              <a:rPr lang="en-GB" b="0" i="1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 Meaning: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Requirements do not oppose each other.</a:t>
            </a:r>
          </a:p>
        </p:txBody>
      </p:sp>
    </p:spTree>
    <p:extLst>
      <p:ext uri="{BB962C8B-B14F-4D97-AF65-F5344CB8AC3E}">
        <p14:creationId xmlns:p14="http://schemas.microsoft.com/office/powerpoint/2010/main" val="407659857"/>
      </p:ext>
    </p:extLst>
  </p:cSld>
  <p:clrMapOvr>
    <a:masterClrMapping/>
  </p:clrMapOvr>
  <p:transition spd="slow">
    <p:circl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C7A957-B6C4-CB8B-AF21-E354E48BE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533400"/>
            <a:ext cx="57912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095867"/>
      </p:ext>
    </p:extLst>
  </p:cSld>
  <p:clrMapOvr>
    <a:masterClrMapping/>
  </p:clrMapOvr>
  <p:transition spd="slow">
    <p:circl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1BFB6-3ECC-446D-9128-10D63B5D8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1"/>
            <a:ext cx="9601196" cy="903819"/>
          </a:xfrm>
        </p:spPr>
        <p:txBody>
          <a:bodyPr>
            <a:normAutofit fontScale="90000"/>
          </a:bodyPr>
          <a:lstStyle/>
          <a:p>
            <a:pPr marR="0" rtl="0"/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What Techniques Do You Apply to Create an SRS Document?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BF2B-F816-A87A-8887-A8167C7B5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2266950"/>
            <a:ext cx="9601196" cy="4152900"/>
          </a:xfrm>
        </p:spPr>
        <p:txBody>
          <a:bodyPr>
            <a:normAutofit lnSpcReduction="10000"/>
          </a:bodyPr>
          <a:lstStyle/>
          <a:p>
            <a:pPr marL="342900" marR="0" lvl="0" indent="-342900" rtl="0">
              <a:buFont typeface="Arial" panose="020B0604020202020204" pitchFamily="34" charset="0"/>
              <a:buChar char="•"/>
            </a:pP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Brainstorming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– Generates many possible ideas and solutions by encouraging free and creative thinking without criticism.</a:t>
            </a:r>
          </a:p>
          <a:p>
            <a:pPr marL="342900" marR="0" lvl="0" indent="-342900" rtl="0">
              <a:buFont typeface="Arial" panose="020B0604020202020204" pitchFamily="34" charset="0"/>
              <a:buChar char="•"/>
            </a:pP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Document Analysis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– Identifies requirements by reviewing existing documents such as business plans, contracts, data models, and process flows.</a:t>
            </a:r>
          </a:p>
          <a:p>
            <a:pPr marL="342900" marR="0" lvl="0" indent="-342900" rtl="0">
              <a:buFont typeface="Arial" panose="020B0604020202020204" pitchFamily="34" charset="0"/>
              <a:buChar char="•"/>
            </a:pP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Interface Analysis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– Examines user, software, and hardware interfaces to define system boundaries and identify required features.</a:t>
            </a:r>
          </a:p>
          <a:p>
            <a:pPr marL="342900" marR="0" lvl="0" indent="-342900" rtl="0">
              <a:buFont typeface="Arial" panose="020B0604020202020204" pitchFamily="34" charset="0"/>
              <a:buChar char="•"/>
            </a:pPr>
            <a:r>
              <a:rPr lang="en-GB" b="1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Interview</a:t>
            </a:r>
            <a:r>
              <a:rPr lang="en-GB" b="0" i="0" u="none" strike="noStrike" kern="100" baseline="0" dirty="0">
                <a:solidFill>
                  <a:srgbClr val="2F5496"/>
                </a:solidFill>
                <a:latin typeface="Times New Roman" panose="02020603050405020304" pitchFamily="18" charset="0"/>
              </a:rPr>
              <a:t> – Gathers requirements through direct communication with stakeholders or subject matter experts using prepared or spontaneous questions.</a:t>
            </a:r>
          </a:p>
        </p:txBody>
      </p:sp>
    </p:spTree>
    <p:extLst>
      <p:ext uri="{BB962C8B-B14F-4D97-AF65-F5344CB8AC3E}">
        <p14:creationId xmlns:p14="http://schemas.microsoft.com/office/powerpoint/2010/main" val="22415707"/>
      </p:ext>
    </p:extLst>
  </p:cSld>
  <p:clrMapOvr>
    <a:masterClrMapping/>
  </p:clrMapOvr>
  <p:transition spd="slow">
    <p:circl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34D7E-9B17-2DD0-9C75-0D306F35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kern="100" dirty="0">
                <a:solidFill>
                  <a:srgbClr val="2F5496"/>
                </a:solidFill>
              </a:rPr>
              <a:t>Continue…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D66E0-2B38-A508-F928-C91A68842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Prototyping</a:t>
            </a:r>
            <a:r>
              <a:rPr lang="en-GB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 – Builds a preliminary version of the system to validate ideas and clarify requirements.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Mind Mapping</a:t>
            </a:r>
            <a:r>
              <a:rPr lang="en-GB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 – Visually organizes ideas and system components in a hierarchical structure to show relationships.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Focus Group</a:t>
            </a:r>
            <a:r>
              <a:rPr lang="en-GB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 – Uses group discussions with representative users to collect feedback on features, needs, and expectations.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Requirements Workshop</a:t>
            </a:r>
            <a:r>
              <a:rPr lang="en-GB" kern="100" dirty="0">
                <a:solidFill>
                  <a:srgbClr val="2F5496"/>
                </a:solidFill>
                <a:latin typeface="Times New Roman" panose="02020603050405020304" pitchFamily="18" charset="0"/>
              </a:rPr>
              <a:t> – Brings stakeholders together to quickly define and agree on cross-functional requirements.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0231112"/>
      </p:ext>
    </p:extLst>
  </p:cSld>
  <p:clrMapOvr>
    <a:masterClrMapping/>
  </p:clrMapOvr>
  <p:transition spd="slow">
    <p:circl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88955E0-41BB-1680-BCD4-D2839688E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25A41A-B02D-1DEA-9C13-EBA0F2843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B6F78B-F2BB-9B68-9161-68752A60C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03" y="106338"/>
            <a:ext cx="11542427" cy="661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5983"/>
      </p:ext>
    </p:extLst>
  </p:cSld>
  <p:clrMapOvr>
    <a:masterClrMapping/>
  </p:clrMapOvr>
  <p:transition spd="slow">
    <p:circl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ABEC07-A97A-B334-9195-273A56E4F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The End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674DA-C766-AB53-F357-F4E4A8338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GB" sz="4000" dirty="0">
              <a:solidFill>
                <a:srgbClr val="002060"/>
              </a:solidFill>
            </a:endParaRPr>
          </a:p>
          <a:p>
            <a:pPr algn="ctr"/>
            <a:r>
              <a:rPr lang="en-GB" sz="4000" dirty="0">
                <a:solidFill>
                  <a:srgbClr val="002060"/>
                </a:solidFill>
              </a:rPr>
              <a:t>Thank you for your time and attention.</a:t>
            </a:r>
          </a:p>
        </p:txBody>
      </p:sp>
    </p:spTree>
    <p:extLst>
      <p:ext uri="{BB962C8B-B14F-4D97-AF65-F5344CB8AC3E}">
        <p14:creationId xmlns:p14="http://schemas.microsoft.com/office/powerpoint/2010/main" val="4204823129"/>
      </p:ext>
    </p:extLst>
  </p:cSld>
  <p:clrMapOvr>
    <a:masterClrMapping/>
  </p:clrMapOvr>
  <p:transition spd="slow">
    <p:circle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99</TotalTime>
  <Words>1094</Words>
  <Application>Microsoft Office PowerPoint</Application>
  <PresentationFormat>Widescreen</PresentationFormat>
  <Paragraphs>119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Garamond</vt:lpstr>
      <vt:lpstr>Times New Roman</vt:lpstr>
      <vt:lpstr>Wingdings</vt:lpstr>
      <vt:lpstr>Organic</vt:lpstr>
      <vt:lpstr>SOFTWARE REQUIREMENTS SPECIFICATION (SRS)</vt:lpstr>
      <vt:lpstr>SOFTWARE REQUIREMENT SPECIFICATION</vt:lpstr>
      <vt:lpstr>Requirements vs Specifications</vt:lpstr>
      <vt:lpstr>Purpose of an SRS</vt:lpstr>
      <vt:lpstr>Continue…</vt:lpstr>
      <vt:lpstr>Continue…</vt:lpstr>
      <vt:lpstr>Continue…</vt:lpstr>
      <vt:lpstr>COMPONENTS OF AN SRS</vt:lpstr>
      <vt:lpstr>Continue…</vt:lpstr>
      <vt:lpstr>Characteristics of a Great SRS</vt:lpstr>
      <vt:lpstr>Continue…</vt:lpstr>
      <vt:lpstr>Continue…</vt:lpstr>
      <vt:lpstr>Continue…</vt:lpstr>
      <vt:lpstr>PowerPoint Presentation</vt:lpstr>
      <vt:lpstr>What Techniques Do You Apply to Create an SRS Document?</vt:lpstr>
      <vt:lpstr>Continue…</vt:lpstr>
      <vt:lpstr>PowerPoint Presentation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baraka mkumbwa</dc:creator>
  <cp:lastModifiedBy>baraka mkumbwa</cp:lastModifiedBy>
  <cp:revision>1</cp:revision>
  <dcterms:created xsi:type="dcterms:W3CDTF">2026-01-15T22:52:33Z</dcterms:created>
  <dcterms:modified xsi:type="dcterms:W3CDTF">2026-01-16T00:32:26Z</dcterms:modified>
</cp:coreProperties>
</file>