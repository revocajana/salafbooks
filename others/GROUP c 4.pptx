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6" d="100"/>
          <a:sy n="106" d="100"/>
        </p:scale>
        <p:origin x="79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FF59F88-A93B-4FF5-B1ED-23BA9A20DE70}"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87B082-77D1-4DF3-B884-39B1ADA3E493}" type="slidenum">
              <a:rPr lang="en-US" smtClean="0"/>
              <a:t>‹#›</a:t>
            </a:fld>
            <a:endParaRPr lang="en-US"/>
          </a:p>
        </p:txBody>
      </p:sp>
    </p:spTree>
    <p:extLst>
      <p:ext uri="{BB962C8B-B14F-4D97-AF65-F5344CB8AC3E}">
        <p14:creationId xmlns:p14="http://schemas.microsoft.com/office/powerpoint/2010/main" val="100108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F59F88-A93B-4FF5-B1ED-23BA9A20DE70}"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87B082-77D1-4DF3-B884-39B1ADA3E493}" type="slidenum">
              <a:rPr lang="en-US" smtClean="0"/>
              <a:t>‹#›</a:t>
            </a:fld>
            <a:endParaRPr lang="en-US"/>
          </a:p>
        </p:txBody>
      </p:sp>
    </p:spTree>
    <p:extLst>
      <p:ext uri="{BB962C8B-B14F-4D97-AF65-F5344CB8AC3E}">
        <p14:creationId xmlns:p14="http://schemas.microsoft.com/office/powerpoint/2010/main" val="268456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FF59F88-A93B-4FF5-B1ED-23BA9A20DE70}"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87B082-77D1-4DF3-B884-39B1ADA3E493}" type="slidenum">
              <a:rPr lang="en-US" smtClean="0"/>
              <a:t>‹#›</a:t>
            </a:fld>
            <a:endParaRPr lang="en-US"/>
          </a:p>
        </p:txBody>
      </p:sp>
    </p:spTree>
    <p:extLst>
      <p:ext uri="{BB962C8B-B14F-4D97-AF65-F5344CB8AC3E}">
        <p14:creationId xmlns:p14="http://schemas.microsoft.com/office/powerpoint/2010/main" val="2333389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FF59F88-A93B-4FF5-B1ED-23BA9A20DE70}"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87B082-77D1-4DF3-B884-39B1ADA3E493}" type="slidenum">
              <a:rPr lang="en-US" smtClean="0"/>
              <a:t>‹#›</a:t>
            </a:fld>
            <a:endParaRPr lang="en-US"/>
          </a:p>
        </p:txBody>
      </p:sp>
    </p:spTree>
    <p:extLst>
      <p:ext uri="{BB962C8B-B14F-4D97-AF65-F5344CB8AC3E}">
        <p14:creationId xmlns:p14="http://schemas.microsoft.com/office/powerpoint/2010/main" val="794110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FF59F88-A93B-4FF5-B1ED-23BA9A20DE70}" type="datetimeFigureOut">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87B082-77D1-4DF3-B884-39B1ADA3E493}" type="slidenum">
              <a:rPr lang="en-US" smtClean="0"/>
              <a:t>‹#›</a:t>
            </a:fld>
            <a:endParaRPr lang="en-US"/>
          </a:p>
        </p:txBody>
      </p:sp>
    </p:spTree>
    <p:extLst>
      <p:ext uri="{BB962C8B-B14F-4D97-AF65-F5344CB8AC3E}">
        <p14:creationId xmlns:p14="http://schemas.microsoft.com/office/powerpoint/2010/main" val="1268870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FF59F88-A93B-4FF5-B1ED-23BA9A20DE70}" type="datetimeFigureOut">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87B082-77D1-4DF3-B884-39B1ADA3E493}" type="slidenum">
              <a:rPr lang="en-US" smtClean="0"/>
              <a:t>‹#›</a:t>
            </a:fld>
            <a:endParaRPr lang="en-US"/>
          </a:p>
        </p:txBody>
      </p:sp>
    </p:spTree>
    <p:extLst>
      <p:ext uri="{BB962C8B-B14F-4D97-AF65-F5344CB8AC3E}">
        <p14:creationId xmlns:p14="http://schemas.microsoft.com/office/powerpoint/2010/main" val="29030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F59F88-A93B-4FF5-B1ED-23BA9A20DE70}" type="datetimeFigureOut">
              <a:rPr lang="en-US" smtClean="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87B082-77D1-4DF3-B884-39B1ADA3E493}" type="slidenum">
              <a:rPr lang="en-US" smtClean="0"/>
              <a:t>‹#›</a:t>
            </a:fld>
            <a:endParaRPr lang="en-US"/>
          </a:p>
        </p:txBody>
      </p:sp>
    </p:spTree>
    <p:extLst>
      <p:ext uri="{BB962C8B-B14F-4D97-AF65-F5344CB8AC3E}">
        <p14:creationId xmlns:p14="http://schemas.microsoft.com/office/powerpoint/2010/main" val="1981497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F59F88-A93B-4FF5-B1ED-23BA9A20DE70}"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87B082-77D1-4DF3-B884-39B1ADA3E493}" type="slidenum">
              <a:rPr lang="en-US" smtClean="0"/>
              <a:t>‹#›</a:t>
            </a:fld>
            <a:endParaRPr lang="en-US"/>
          </a:p>
        </p:txBody>
      </p:sp>
    </p:spTree>
    <p:extLst>
      <p:ext uri="{BB962C8B-B14F-4D97-AF65-F5344CB8AC3E}">
        <p14:creationId xmlns:p14="http://schemas.microsoft.com/office/powerpoint/2010/main" val="4264969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F59F88-A93B-4FF5-B1ED-23BA9A20DE70}"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87B082-77D1-4DF3-B884-39B1ADA3E493}" type="slidenum">
              <a:rPr lang="en-US" smtClean="0"/>
              <a:t>‹#›</a:t>
            </a:fld>
            <a:endParaRPr lang="en-US"/>
          </a:p>
        </p:txBody>
      </p:sp>
    </p:spTree>
    <p:extLst>
      <p:ext uri="{BB962C8B-B14F-4D97-AF65-F5344CB8AC3E}">
        <p14:creationId xmlns:p14="http://schemas.microsoft.com/office/powerpoint/2010/main" val="3114245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F59F88-A93B-4FF5-B1ED-23BA9A20DE70}"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87B082-77D1-4DF3-B884-39B1ADA3E493}" type="slidenum">
              <a:rPr lang="en-US" smtClean="0"/>
              <a:t>‹#›</a:t>
            </a:fld>
            <a:endParaRPr lang="en-US"/>
          </a:p>
        </p:txBody>
      </p:sp>
    </p:spTree>
    <p:extLst>
      <p:ext uri="{BB962C8B-B14F-4D97-AF65-F5344CB8AC3E}">
        <p14:creationId xmlns:p14="http://schemas.microsoft.com/office/powerpoint/2010/main" val="465477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F59F88-A93B-4FF5-B1ED-23BA9A20DE70}"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87B082-77D1-4DF3-B884-39B1ADA3E493}" type="slidenum">
              <a:rPr lang="en-US" smtClean="0"/>
              <a:t>‹#›</a:t>
            </a:fld>
            <a:endParaRPr lang="en-US"/>
          </a:p>
        </p:txBody>
      </p:sp>
    </p:spTree>
    <p:extLst>
      <p:ext uri="{BB962C8B-B14F-4D97-AF65-F5344CB8AC3E}">
        <p14:creationId xmlns:p14="http://schemas.microsoft.com/office/powerpoint/2010/main" val="1661527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F59F88-A93B-4FF5-B1ED-23BA9A20DE70}" type="datetimeFigureOut">
              <a:rPr lang="en-US" smtClean="0"/>
              <a:t>12/3/2025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87B082-77D1-4DF3-B884-39B1ADA3E493}" type="slidenum">
              <a:rPr lang="en-US" smtClean="0"/>
              <a:t>‹#›</a:t>
            </a:fld>
            <a:endParaRPr lang="en-US"/>
          </a:p>
        </p:txBody>
      </p:sp>
    </p:spTree>
    <p:extLst>
      <p:ext uri="{BB962C8B-B14F-4D97-AF65-F5344CB8AC3E}">
        <p14:creationId xmlns:p14="http://schemas.microsoft.com/office/powerpoint/2010/main" val="637189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just"/>
            <a:r>
              <a:rPr lang="en-GB" sz="4400" b="1" dirty="0" smtClean="0">
                <a:latin typeface="Times New Roman" panose="02020603050405020304" pitchFamily="18" charset="0"/>
                <a:cs typeface="Times New Roman" panose="02020603050405020304" pitchFamily="18" charset="0"/>
              </a:rPr>
              <a:t>Topic 4:</a:t>
            </a:r>
            <a:endParaRPr lang="en-US" sz="44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a:bodyPr>
          <a:lstStyle/>
          <a:p>
            <a:pPr algn="just"/>
            <a:r>
              <a:rPr lang="en-GB" sz="5400" b="1" dirty="0">
                <a:latin typeface="Times New Roman" panose="02020603050405020304" pitchFamily="18" charset="0"/>
                <a:cs typeface="Times New Roman" panose="02020603050405020304" pitchFamily="18" charset="0"/>
              </a:rPr>
              <a:t>Text and Typography in Multimedia</a:t>
            </a:r>
            <a:endParaRPr lang="en-US" sz="5400" dirty="0"/>
          </a:p>
        </p:txBody>
      </p:sp>
    </p:spTree>
    <p:extLst>
      <p:ext uri="{BB962C8B-B14F-4D97-AF65-F5344CB8AC3E}">
        <p14:creationId xmlns:p14="http://schemas.microsoft.com/office/powerpoint/2010/main" val="3713164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latin typeface="Times New Roman" panose="02020603050405020304" pitchFamily="18" charset="0"/>
                <a:cs typeface="Times New Roman" panose="02020603050405020304" pitchFamily="18" charset="0"/>
              </a:rPr>
              <a:t>Role of text in </a:t>
            </a:r>
            <a:r>
              <a:rPr lang="en-GB" b="1" dirty="0" smtClean="0">
                <a:latin typeface="Times New Roman" panose="02020603050405020304" pitchFamily="18" charset="0"/>
                <a:cs typeface="Times New Roman" panose="02020603050405020304" pitchFamily="18" charset="0"/>
              </a:rPr>
              <a:t>multimedia</a:t>
            </a: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Text is one of the most important elements in multimedia because it:</a:t>
            </a:r>
          </a:p>
          <a:p>
            <a:r>
              <a:rPr lang="en-US" sz="4000" b="1" dirty="0" smtClean="0">
                <a:latin typeface="Times New Roman" panose="02020603050405020304" pitchFamily="18" charset="0"/>
                <a:cs typeface="Times New Roman" panose="02020603050405020304" pitchFamily="18" charset="0"/>
              </a:rPr>
              <a:t>Communicates core information</a:t>
            </a:r>
            <a:r>
              <a:rPr lang="en-US" sz="4000" dirty="0" smtClean="0">
                <a:latin typeface="Times New Roman" panose="02020603050405020304" pitchFamily="18" charset="0"/>
                <a:cs typeface="Times New Roman" panose="02020603050405020304" pitchFamily="18" charset="0"/>
              </a:rPr>
              <a:t> clearly and directly.</a:t>
            </a:r>
          </a:p>
          <a:p>
            <a:r>
              <a:rPr lang="en-US" sz="4000" b="1" dirty="0" smtClean="0">
                <a:latin typeface="Times New Roman" panose="02020603050405020304" pitchFamily="18" charset="0"/>
                <a:cs typeface="Times New Roman" panose="02020603050405020304" pitchFamily="18" charset="0"/>
              </a:rPr>
              <a:t>Supports other media</a:t>
            </a:r>
            <a:r>
              <a:rPr lang="en-US" sz="4000" dirty="0" smtClean="0">
                <a:latin typeface="Times New Roman" panose="02020603050405020304" pitchFamily="18" charset="0"/>
                <a:cs typeface="Times New Roman" panose="02020603050405020304" pitchFamily="18" charset="0"/>
              </a:rPr>
              <a:t> (audio, video, graphics) by providing explanation</a:t>
            </a:r>
            <a:r>
              <a:rPr lang="en-US" sz="4000" dirty="0">
                <a:latin typeface="Times New Roman" panose="02020603050405020304" pitchFamily="18" charset="0"/>
                <a:cs typeface="Times New Roman" panose="02020603050405020304" pitchFamily="18" charset="0"/>
              </a:rPr>
              <a:t> </a:t>
            </a:r>
            <a:r>
              <a:rPr lang="en-US" sz="4000" dirty="0" smtClean="0">
                <a:latin typeface="Times New Roman" panose="02020603050405020304" pitchFamily="18" charset="0"/>
                <a:cs typeface="Times New Roman" panose="02020603050405020304" pitchFamily="18" charset="0"/>
              </a:rPr>
              <a:t>or instruction</a:t>
            </a:r>
          </a:p>
          <a:p>
            <a:r>
              <a:rPr lang="en-US" sz="4000" b="1" dirty="0" smtClean="0">
                <a:latin typeface="Times New Roman" panose="02020603050405020304" pitchFamily="18" charset="0"/>
                <a:cs typeface="Times New Roman" panose="02020603050405020304" pitchFamily="18" charset="0"/>
              </a:rPr>
              <a:t>Guides user navigation</a:t>
            </a:r>
            <a:r>
              <a:rPr lang="en-US" sz="4000" dirty="0" smtClean="0">
                <a:latin typeface="Times New Roman" panose="02020603050405020304" pitchFamily="18" charset="0"/>
                <a:cs typeface="Times New Roman" panose="02020603050405020304" pitchFamily="18" charset="0"/>
              </a:rPr>
              <a:t> through menus, buttons, and labels.</a:t>
            </a:r>
          </a:p>
          <a:p>
            <a:endParaRPr lang="en-US" dirty="0"/>
          </a:p>
        </p:txBody>
      </p:sp>
    </p:spTree>
    <p:extLst>
      <p:ext uri="{BB962C8B-B14F-4D97-AF65-F5344CB8AC3E}">
        <p14:creationId xmlns:p14="http://schemas.microsoft.com/office/powerpoint/2010/main" val="4256277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L</a:t>
            </a:r>
            <a:r>
              <a:rPr lang="en-GB" b="1" dirty="0" smtClean="0"/>
              <a:t>egibility </a:t>
            </a:r>
            <a:r>
              <a:rPr lang="en-GB" b="1" dirty="0"/>
              <a:t>vs R</a:t>
            </a:r>
            <a:r>
              <a:rPr lang="en-GB" b="1" dirty="0" smtClean="0"/>
              <a:t>eadability</a:t>
            </a:r>
            <a:r>
              <a:rPr lang="en-GB" b="1" dirty="0"/>
              <a:t>. </a:t>
            </a:r>
            <a:endParaRPr lang="en-US" b="1" dirty="0"/>
          </a:p>
        </p:txBody>
      </p:sp>
      <p:sp>
        <p:nvSpPr>
          <p:cNvPr id="3" name="Content Placeholder 2"/>
          <p:cNvSpPr>
            <a:spLocks noGrp="1"/>
          </p:cNvSpPr>
          <p:nvPr>
            <p:ph idx="1"/>
          </p:nvPr>
        </p:nvSpPr>
        <p:spPr/>
        <p:txBody>
          <a:bodyPr/>
          <a:lstStyle/>
          <a:p>
            <a:pPr marL="0" indent="0">
              <a:buNone/>
            </a:pPr>
            <a:r>
              <a:rPr lang="en-US" b="1" dirty="0" smtClean="0"/>
              <a:t>Legibility</a:t>
            </a:r>
            <a:r>
              <a:rPr lang="en-US" dirty="0" smtClean="0"/>
              <a:t> refers to how easy it is to recognize individual letters or characters.</a:t>
            </a:r>
          </a:p>
          <a:p>
            <a:pPr marL="0" indent="0">
              <a:buNone/>
            </a:pPr>
            <a:r>
              <a:rPr lang="en-US" b="1" dirty="0" smtClean="0"/>
              <a:t>What affects legibility?</a:t>
            </a:r>
          </a:p>
          <a:p>
            <a:r>
              <a:rPr lang="en-US" dirty="0" smtClean="0"/>
              <a:t>Font type (e.g., Arial, Times new roman, </a:t>
            </a:r>
            <a:r>
              <a:rPr lang="en-US" dirty="0" err="1" smtClean="0"/>
              <a:t>calibri</a:t>
            </a:r>
            <a:r>
              <a:rPr lang="en-US" dirty="0" smtClean="0"/>
              <a:t>)</a:t>
            </a:r>
          </a:p>
          <a:p>
            <a:r>
              <a:rPr lang="en-US" dirty="0" smtClean="0"/>
              <a:t>Font size</a:t>
            </a:r>
          </a:p>
          <a:p>
            <a:r>
              <a:rPr lang="en-US" dirty="0" smtClean="0"/>
              <a:t>Letter spacing</a:t>
            </a:r>
          </a:p>
          <a:p>
            <a:endParaRPr lang="en-US" dirty="0"/>
          </a:p>
        </p:txBody>
      </p:sp>
    </p:spTree>
    <p:extLst>
      <p:ext uri="{BB962C8B-B14F-4D97-AF65-F5344CB8AC3E}">
        <p14:creationId xmlns:p14="http://schemas.microsoft.com/office/powerpoint/2010/main" val="517209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Legibility vs Readability. </a:t>
            </a:r>
            <a:endParaRPr lang="en-US" dirty="0"/>
          </a:p>
        </p:txBody>
      </p:sp>
      <p:sp>
        <p:nvSpPr>
          <p:cNvPr id="3" name="Content Placeholder 2"/>
          <p:cNvSpPr>
            <a:spLocks noGrp="1"/>
          </p:cNvSpPr>
          <p:nvPr>
            <p:ph idx="1"/>
          </p:nvPr>
        </p:nvSpPr>
        <p:spPr/>
        <p:txBody>
          <a:bodyPr/>
          <a:lstStyle/>
          <a:p>
            <a:pPr marL="0" indent="0">
              <a:buNone/>
            </a:pPr>
            <a:r>
              <a:rPr lang="en-US" b="1" dirty="0" smtClean="0"/>
              <a:t>Readability</a:t>
            </a:r>
            <a:r>
              <a:rPr lang="en-US" dirty="0" smtClean="0"/>
              <a:t> refers to how easy it is to read and understand sentences and paragraphs.</a:t>
            </a:r>
          </a:p>
          <a:p>
            <a:pPr marL="0" indent="0">
              <a:buNone/>
            </a:pPr>
            <a:r>
              <a:rPr lang="en-US" b="1" dirty="0" smtClean="0"/>
              <a:t>What affects readability?</a:t>
            </a:r>
          </a:p>
          <a:p>
            <a:r>
              <a:rPr lang="en-US" dirty="0" smtClean="0"/>
              <a:t>Line spacing</a:t>
            </a:r>
          </a:p>
          <a:p>
            <a:r>
              <a:rPr lang="en-US" dirty="0" smtClean="0"/>
              <a:t>Sentence length</a:t>
            </a:r>
          </a:p>
          <a:p>
            <a:r>
              <a:rPr lang="en-US" dirty="0" smtClean="0"/>
              <a:t>Paragraph spacing</a:t>
            </a:r>
          </a:p>
          <a:p>
            <a:r>
              <a:rPr lang="en-US" dirty="0" smtClean="0"/>
              <a:t>Text layout (columns, alignment)</a:t>
            </a:r>
          </a:p>
          <a:p>
            <a:pPr marL="0" indent="0">
              <a:buNone/>
            </a:pPr>
            <a:endParaRPr lang="en-US" dirty="0"/>
          </a:p>
        </p:txBody>
      </p:sp>
    </p:spTree>
    <p:extLst>
      <p:ext uri="{BB962C8B-B14F-4D97-AF65-F5344CB8AC3E}">
        <p14:creationId xmlns:p14="http://schemas.microsoft.com/office/powerpoint/2010/main" val="2637134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FONT FAMILIES</a:t>
            </a:r>
            <a:endParaRPr lang="en-US" dirty="0"/>
          </a:p>
        </p:txBody>
      </p:sp>
      <p:sp>
        <p:nvSpPr>
          <p:cNvPr id="3" name="Content Placeholder 2"/>
          <p:cNvSpPr>
            <a:spLocks noGrp="1"/>
          </p:cNvSpPr>
          <p:nvPr>
            <p:ph idx="1"/>
          </p:nvPr>
        </p:nvSpPr>
        <p:spPr/>
        <p:txBody>
          <a:bodyPr/>
          <a:lstStyle/>
          <a:p>
            <a:pPr marL="0" indent="0">
              <a:buNone/>
            </a:pPr>
            <a:r>
              <a:rPr lang="en-US" dirty="0"/>
              <a:t>Font families, often just called "fonts," are categorized based on their appearance. The primary classifications are: </a:t>
            </a:r>
            <a:endParaRPr lang="en-US" dirty="0" smtClean="0"/>
          </a:p>
          <a:p>
            <a:r>
              <a:rPr lang="en-US" b="1" dirty="0"/>
              <a:t>Serif:</a:t>
            </a:r>
            <a:r>
              <a:rPr lang="en-US" dirty="0"/>
              <a:t> These fonts have small lines or strokes (called serifs) attached to the end of the main strokes of letters. They are traditionally associated with classic, professional documents and are often used for extensive body text in print because the serifs can help guide the eye across the page. Examples: </a:t>
            </a:r>
            <a:r>
              <a:rPr lang="en-US" i="1" dirty="0"/>
              <a:t>Times New Roman, Georgia, Garamond.</a:t>
            </a:r>
            <a:endParaRPr lang="en-US" dirty="0"/>
          </a:p>
          <a:p>
            <a:pPr marL="0" indent="0">
              <a:buNone/>
            </a:pPr>
            <a:endParaRPr lang="en-US" dirty="0"/>
          </a:p>
        </p:txBody>
      </p:sp>
    </p:spTree>
    <p:extLst>
      <p:ext uri="{BB962C8B-B14F-4D97-AF65-F5344CB8AC3E}">
        <p14:creationId xmlns:p14="http://schemas.microsoft.com/office/powerpoint/2010/main" val="227085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FONT FAMILIES……</a:t>
            </a:r>
            <a:endParaRPr lang="en-US" dirty="0"/>
          </a:p>
        </p:txBody>
      </p:sp>
      <p:sp>
        <p:nvSpPr>
          <p:cNvPr id="3" name="Content Placeholder 2"/>
          <p:cNvSpPr>
            <a:spLocks noGrp="1"/>
          </p:cNvSpPr>
          <p:nvPr>
            <p:ph idx="1"/>
          </p:nvPr>
        </p:nvSpPr>
        <p:spPr/>
        <p:txBody>
          <a:bodyPr/>
          <a:lstStyle/>
          <a:p>
            <a:r>
              <a:rPr lang="en-US" b="1" dirty="0"/>
              <a:t>Sans-serif:</a:t>
            </a:r>
            <a:r>
              <a:rPr lang="en-US" dirty="0"/>
              <a:t> This means "without serifs." These fonts have clean lines and lack the end strokes. They tend to have a modern, minimalist feel and are very common for body text on screens (websites, apps) because their clean edges render clearly on digital displays. Examples: Arial, Helvetica, </a:t>
            </a:r>
            <a:r>
              <a:rPr lang="en-US" dirty="0" smtClean="0"/>
              <a:t>Calibri</a:t>
            </a:r>
          </a:p>
          <a:p>
            <a:r>
              <a:rPr lang="en-US" b="1" dirty="0"/>
              <a:t>Display:</a:t>
            </a:r>
            <a:r>
              <a:rPr lang="en-US" dirty="0"/>
              <a:t> These are typically elaborate, stylized fonts designed to grab attention. They are best used sparingly for large headlines, logos, or titles rather than for main body text, as they can be difficult to read at smaller sizes. Examples: Impact, many script fonts, decorative or handwritten typefaces. </a:t>
            </a:r>
          </a:p>
          <a:p>
            <a:pPr marL="0" indent="0">
              <a:buNone/>
            </a:pPr>
            <a:endParaRPr lang="en-US" dirty="0"/>
          </a:p>
        </p:txBody>
      </p:sp>
    </p:spTree>
    <p:extLst>
      <p:ext uri="{BB962C8B-B14F-4D97-AF65-F5344CB8AC3E}">
        <p14:creationId xmlns:p14="http://schemas.microsoft.com/office/powerpoint/2010/main" val="1102550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Font Size</a:t>
            </a:r>
            <a:endParaRPr lang="en-US" dirty="0"/>
          </a:p>
        </p:txBody>
      </p:sp>
      <p:sp>
        <p:nvSpPr>
          <p:cNvPr id="5" name="Content Placeholder 4"/>
          <p:cNvSpPr>
            <a:spLocks noGrp="1"/>
          </p:cNvSpPr>
          <p:nvPr>
            <p:ph idx="1"/>
          </p:nvPr>
        </p:nvSpPr>
        <p:spPr/>
        <p:txBody>
          <a:bodyPr/>
          <a:lstStyle/>
          <a:p>
            <a:r>
              <a:rPr lang="en-US" dirty="0"/>
              <a:t>Font size dictates how large the characters appear. It is usually measured in </a:t>
            </a:r>
            <a:r>
              <a:rPr lang="en-US" b="1" dirty="0"/>
              <a:t>points (</a:t>
            </a:r>
            <a:r>
              <a:rPr lang="en-US" b="1" dirty="0" err="1"/>
              <a:t>pt</a:t>
            </a:r>
            <a:r>
              <a:rPr lang="en-US" b="1" dirty="0"/>
              <a:t>)</a:t>
            </a:r>
            <a:r>
              <a:rPr lang="en-US" dirty="0"/>
              <a:t> in print media, or </a:t>
            </a:r>
            <a:r>
              <a:rPr lang="en-US" b="1" dirty="0"/>
              <a:t>pixels (</a:t>
            </a:r>
            <a:r>
              <a:rPr lang="en-US" b="1" dirty="0" err="1"/>
              <a:t>px</a:t>
            </a:r>
            <a:r>
              <a:rPr lang="en-US" b="1" dirty="0"/>
              <a:t>)</a:t>
            </a:r>
            <a:r>
              <a:rPr lang="en-US" dirty="0"/>
              <a:t>, </a:t>
            </a:r>
            <a:r>
              <a:rPr lang="en-US" b="1" dirty="0"/>
              <a:t>ems (</a:t>
            </a:r>
            <a:r>
              <a:rPr lang="en-US" b="1" dirty="0" err="1"/>
              <a:t>em</a:t>
            </a:r>
            <a:r>
              <a:rPr lang="en-US" b="1" dirty="0"/>
              <a:t>)</a:t>
            </a:r>
            <a:r>
              <a:rPr lang="en-US" dirty="0"/>
              <a:t>, or </a:t>
            </a:r>
            <a:r>
              <a:rPr lang="en-US" b="1" dirty="0"/>
              <a:t>rems (rem)</a:t>
            </a:r>
            <a:r>
              <a:rPr lang="en-US" dirty="0"/>
              <a:t> in digital design. </a:t>
            </a:r>
            <a:endParaRPr lang="en-US" dirty="0" smtClean="0"/>
          </a:p>
          <a:p>
            <a:r>
              <a:rPr lang="en-US" b="1" dirty="0"/>
              <a:t>Standard body text size</a:t>
            </a:r>
            <a:r>
              <a:rPr lang="en-US" dirty="0"/>
              <a:t> is typically between 10pt and 14pt (or 16px to 20px for web pages) to ensure comfortable readability for most people. </a:t>
            </a:r>
          </a:p>
          <a:p>
            <a:pPr marL="0" indent="0">
              <a:buNone/>
            </a:pPr>
            <a:endParaRPr lang="en-US" dirty="0"/>
          </a:p>
        </p:txBody>
      </p:sp>
    </p:spTree>
    <p:extLst>
      <p:ext uri="{BB962C8B-B14F-4D97-AF65-F5344CB8AC3E}">
        <p14:creationId xmlns:p14="http://schemas.microsoft.com/office/powerpoint/2010/main" val="1854065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 SPACING.</a:t>
            </a:r>
            <a:endParaRPr lang="en-US" dirty="0"/>
          </a:p>
        </p:txBody>
      </p:sp>
      <p:sp>
        <p:nvSpPr>
          <p:cNvPr id="3" name="Content Placeholder 2"/>
          <p:cNvSpPr>
            <a:spLocks noGrp="1"/>
          </p:cNvSpPr>
          <p:nvPr>
            <p:ph idx="1"/>
          </p:nvPr>
        </p:nvSpPr>
        <p:spPr/>
        <p:txBody>
          <a:bodyPr>
            <a:normAutofit/>
          </a:bodyPr>
          <a:lstStyle/>
          <a:p>
            <a:r>
              <a:rPr lang="en-US" sz="3600" dirty="0">
                <a:latin typeface="Times New Roman" panose="02020603050405020304" pitchFamily="18" charset="0"/>
                <a:cs typeface="Times New Roman" panose="02020603050405020304" pitchFamily="18" charset="0"/>
              </a:rPr>
              <a:t>Also known as </a:t>
            </a:r>
            <a:r>
              <a:rPr lang="en-US" sz="3600" b="1" dirty="0">
                <a:latin typeface="Times New Roman" panose="02020603050405020304" pitchFamily="18" charset="0"/>
                <a:cs typeface="Times New Roman" panose="02020603050405020304" pitchFamily="18" charset="0"/>
              </a:rPr>
              <a:t>leading</a:t>
            </a:r>
            <a:r>
              <a:rPr lang="en-US" sz="3600" dirty="0">
                <a:latin typeface="Times New Roman" panose="02020603050405020304" pitchFamily="18" charset="0"/>
                <a:cs typeface="Times New Roman" panose="02020603050405020304" pitchFamily="18" charset="0"/>
              </a:rPr>
              <a:t> (from historical printing presses), line spacing refers to the vertical distance between the baselines of consecutive lines of text. </a:t>
            </a:r>
            <a:endParaRPr lang="en-US" sz="3600" dirty="0" smtClean="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Adequate line spacing (often 120% to 150% of the font size) is crucial for readability, preventing lines of text from feeling cramped and running into each other. </a:t>
            </a:r>
          </a:p>
          <a:p>
            <a:pPr marL="0" indent="0">
              <a:buNone/>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781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ALIGNMENT….</a:t>
            </a:r>
            <a:endParaRPr lang="en-US" dirty="0"/>
          </a:p>
        </p:txBody>
      </p:sp>
      <p:sp>
        <p:nvSpPr>
          <p:cNvPr id="3" name="Content Placeholder 2"/>
          <p:cNvSpPr>
            <a:spLocks noGrp="1"/>
          </p:cNvSpPr>
          <p:nvPr>
            <p:ph idx="1"/>
          </p:nvPr>
        </p:nvSpPr>
        <p:spPr/>
        <p:txBody>
          <a:bodyPr/>
          <a:lstStyle/>
          <a:p>
            <a:pPr marL="0" indent="0">
              <a:buNone/>
            </a:pPr>
            <a:r>
              <a:rPr lang="en-US" dirty="0"/>
              <a:t>Alignment refers to how lines of text are positioned relative to the margins or text box edges. The four main types are: </a:t>
            </a:r>
            <a:endParaRPr lang="en-US" dirty="0" smtClean="0"/>
          </a:p>
          <a:p>
            <a:pPr marL="0" indent="0">
              <a:buNone/>
            </a:pPr>
            <a:r>
              <a:rPr lang="en-US" b="1" dirty="0"/>
              <a:t>Left-aligned:</a:t>
            </a:r>
            <a:r>
              <a:rPr lang="en-US" dirty="0"/>
              <a:t> Text is flush with the left margin, leaving a ragged right edge. This is the most common alignment for languages read from left-to-right, as the consistent left edge makes it easy for the eye to find the start of the next line.</a:t>
            </a:r>
          </a:p>
          <a:p>
            <a:pPr marL="0" indent="0">
              <a:buNone/>
            </a:pPr>
            <a:r>
              <a:rPr lang="en-US" b="1" dirty="0"/>
              <a:t>Right-aligned:</a:t>
            </a:r>
            <a:r>
              <a:rPr lang="en-US" dirty="0"/>
              <a:t> Text is flush with the right margin, leaving a ragged left edge. This is typically used for small sections of text, such as captions, dates, or right-justified numbers in a table, but rarely for large blocks of body text.</a:t>
            </a:r>
          </a:p>
          <a:p>
            <a:pPr marL="0" indent="0">
              <a:buNone/>
            </a:pPr>
            <a:endParaRPr lang="en-US" dirty="0"/>
          </a:p>
        </p:txBody>
      </p:sp>
    </p:spTree>
    <p:extLst>
      <p:ext uri="{BB962C8B-B14F-4D97-AF65-F5344CB8AC3E}">
        <p14:creationId xmlns:p14="http://schemas.microsoft.com/office/powerpoint/2010/main" val="2420846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ALIGNMENT….</a:t>
            </a:r>
            <a:endParaRPr lang="en-US" b="1" dirty="0"/>
          </a:p>
        </p:txBody>
      </p:sp>
      <p:sp>
        <p:nvSpPr>
          <p:cNvPr id="3" name="Content Placeholder 2"/>
          <p:cNvSpPr>
            <a:spLocks noGrp="1"/>
          </p:cNvSpPr>
          <p:nvPr>
            <p:ph idx="1"/>
          </p:nvPr>
        </p:nvSpPr>
        <p:spPr/>
        <p:txBody>
          <a:bodyPr/>
          <a:lstStyle/>
          <a:p>
            <a:r>
              <a:rPr lang="en-US" b="1" dirty="0"/>
              <a:t>Centered:</a:t>
            </a:r>
            <a:r>
              <a:rPr lang="en-US" dirty="0"/>
              <a:t> Text is equally distant from both the left and right margins, resulting in ragged edges on both sides. This is often used for headlines, titles, or invitations to create a formal or symmetrical look, but like right-alignment, it should be avoided for large paragraphs.</a:t>
            </a:r>
          </a:p>
          <a:p>
            <a:r>
              <a:rPr lang="en-US" b="1" dirty="0"/>
              <a:t>Justified:</a:t>
            </a:r>
            <a:r>
              <a:rPr lang="en-US" dirty="0"/>
              <a:t> Text is stretched so that both the left and right edges are flush with the margins, creating clean, straight borders on both sides. This is common in newspapers, magazines, and books, but in digital design it can sometimes create awkward, uneven gaps between words (called "rivers") if not handled carefully. </a:t>
            </a:r>
          </a:p>
        </p:txBody>
      </p:sp>
    </p:spTree>
    <p:extLst>
      <p:ext uri="{BB962C8B-B14F-4D97-AF65-F5344CB8AC3E}">
        <p14:creationId xmlns:p14="http://schemas.microsoft.com/office/powerpoint/2010/main" val="862094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ENCODING  STANDARDS</a:t>
            </a:r>
            <a:endParaRPr lang="en-US" b="1" dirty="0"/>
          </a:p>
        </p:txBody>
      </p:sp>
      <p:sp>
        <p:nvSpPr>
          <p:cNvPr id="3" name="Content Placeholder 2"/>
          <p:cNvSpPr>
            <a:spLocks noGrp="1"/>
          </p:cNvSpPr>
          <p:nvPr>
            <p:ph idx="1"/>
          </p:nvPr>
        </p:nvSpPr>
        <p:spPr>
          <a:xfrm>
            <a:off x="838200" y="1825624"/>
            <a:ext cx="10668754" cy="4738137"/>
          </a:xfrm>
        </p:spPr>
        <p:txBody>
          <a:bodyPr>
            <a:normAutofit/>
          </a:bodyPr>
          <a:lstStyle/>
          <a:p>
            <a:r>
              <a:rPr lang="en-US" b="1" dirty="0"/>
              <a:t>ASCII (American Standard Code for Information Interchange</a:t>
            </a:r>
            <a:r>
              <a:rPr lang="en-US" b="1" dirty="0" smtClean="0"/>
              <a:t>).</a:t>
            </a:r>
          </a:p>
          <a:p>
            <a:r>
              <a:rPr lang="en-US" b="1" dirty="0"/>
              <a:t>Scope:</a:t>
            </a:r>
            <a:r>
              <a:rPr lang="en-US" dirty="0"/>
              <a:t> ASCII uses a 7-bit </a:t>
            </a:r>
            <a:r>
              <a:rPr lang="en-US" dirty="0" smtClean="0"/>
              <a:t>encoding </a:t>
            </a:r>
            <a:r>
              <a:rPr lang="en-US" dirty="0"/>
              <a:t>scheme, allowing it to represent only 128 </a:t>
            </a:r>
            <a:r>
              <a:rPr lang="en-US" dirty="0" smtClean="0"/>
              <a:t>unique </a:t>
            </a:r>
            <a:r>
              <a:rPr lang="en-US" dirty="0"/>
              <a:t>characters.</a:t>
            </a:r>
          </a:p>
          <a:p>
            <a:r>
              <a:rPr lang="en-US" b="1" dirty="0"/>
              <a:t>Content:</a:t>
            </a:r>
            <a:r>
              <a:rPr lang="en-US" dirty="0"/>
              <a:t> This limited set covers uppercase and lowercase English letters (A-Z, a-z), digits (0-9), and basic punctuation marks and symbols.</a:t>
            </a:r>
          </a:p>
          <a:p>
            <a:r>
              <a:rPr lang="en-US" b="1" dirty="0"/>
              <a:t>Limitations for Multilingual Content:</a:t>
            </a:r>
            <a:r>
              <a:rPr lang="en-US" dirty="0"/>
              <a:t> ASCII cannot accommodate characters outside of the basic Latin alphabet. It lacks support for accented letters, characters from non-Latin scripts (like Arabic, Chinese, or Amharic), and even symbols like the pound (£) or euro (€) signs.</a:t>
            </a:r>
          </a:p>
          <a:p>
            <a:pPr marL="0" indent="0">
              <a:buNone/>
            </a:pPr>
            <a:endParaRPr lang="en-US" dirty="0"/>
          </a:p>
        </p:txBody>
      </p:sp>
    </p:spTree>
    <p:extLst>
      <p:ext uri="{BB962C8B-B14F-4D97-AF65-F5344CB8AC3E}">
        <p14:creationId xmlns:p14="http://schemas.microsoft.com/office/powerpoint/2010/main" val="3899007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8039"/>
          </a:xfrm>
        </p:spPr>
        <p:txBody>
          <a:bodyPr/>
          <a:lstStyle/>
          <a:p>
            <a:r>
              <a:rPr lang="en-US" dirty="0" smtClean="0"/>
              <a:t>ENCODING STANDARDS…</a:t>
            </a:r>
            <a:endParaRPr lang="en-US" dirty="0"/>
          </a:p>
        </p:txBody>
      </p:sp>
      <p:sp>
        <p:nvSpPr>
          <p:cNvPr id="3" name="Content Placeholder 2"/>
          <p:cNvSpPr>
            <a:spLocks noGrp="1"/>
          </p:cNvSpPr>
          <p:nvPr>
            <p:ph idx="1"/>
          </p:nvPr>
        </p:nvSpPr>
        <p:spPr>
          <a:xfrm>
            <a:off x="838200" y="1502875"/>
            <a:ext cx="10515600" cy="4674088"/>
          </a:xfrm>
        </p:spPr>
        <p:txBody>
          <a:bodyPr>
            <a:normAutofit/>
          </a:bodyPr>
          <a:lstStyle/>
          <a:p>
            <a:r>
              <a:rPr lang="en-US" b="1" dirty="0">
                <a:latin typeface="Times New Roman" panose="02020603050405020304" pitchFamily="18" charset="0"/>
                <a:cs typeface="Times New Roman" panose="02020603050405020304" pitchFamily="18" charset="0"/>
              </a:rPr>
              <a:t>Scope:</a:t>
            </a:r>
            <a:r>
              <a:rPr lang="en-US" dirty="0">
                <a:latin typeface="Times New Roman" panose="02020603050405020304" pitchFamily="18" charset="0"/>
                <a:cs typeface="Times New Roman" panose="02020603050405020304" pitchFamily="18" charset="0"/>
              </a:rPr>
              <a:t> Unicode provides a unique number (code point) for every character, regardless of the platform, program, or language, covering virtually all modern and historic writing systems in the world. It supports over 150 scripts and more than 140,000 characters.</a:t>
            </a:r>
          </a:p>
          <a:p>
            <a:r>
              <a:rPr lang="en-US" b="1" dirty="0">
                <a:latin typeface="Times New Roman" panose="02020603050405020304" pitchFamily="18" charset="0"/>
                <a:cs typeface="Times New Roman" panose="02020603050405020304" pitchFamily="18" charset="0"/>
              </a:rPr>
              <a:t>Content:</a:t>
            </a:r>
            <a:r>
              <a:rPr lang="en-US" dirty="0">
                <a:latin typeface="Times New Roman" panose="02020603050405020304" pitchFamily="18" charset="0"/>
                <a:cs typeface="Times New Roman" panose="02020603050405020304" pitchFamily="18" charset="0"/>
              </a:rPr>
              <a:t> It includes all ASCII characters (the first 128 code points of Unicode are identical to ASCII), plus extensive support for:</a:t>
            </a:r>
          </a:p>
          <a:p>
            <a:pPr lvl="1"/>
            <a:r>
              <a:rPr lang="en-US" dirty="0">
                <a:latin typeface="Times New Roman" panose="02020603050405020304" pitchFamily="18" charset="0"/>
                <a:cs typeface="Times New Roman" panose="02020603050405020304" pitchFamily="18" charset="0"/>
              </a:rPr>
              <a:t>Latin letters with diacritics (essential for many European and African languages).</a:t>
            </a:r>
          </a:p>
          <a:p>
            <a:pPr lvl="1"/>
            <a:r>
              <a:rPr lang="en-US" dirty="0">
                <a:latin typeface="Times New Roman" panose="02020603050405020304" pitchFamily="18" charset="0"/>
                <a:cs typeface="Times New Roman" panose="02020603050405020304" pitchFamily="18" charset="0"/>
              </a:rPr>
              <a:t>Characters and symbols for global scripts (e.g., Cyrillic, Arabic, Chinese, Indic scripts).</a:t>
            </a:r>
          </a:p>
          <a:p>
            <a:pPr lvl="1"/>
            <a:r>
              <a:rPr lang="en-US" dirty="0">
                <a:latin typeface="Times New Roman" panose="02020603050405020304" pitchFamily="18" charset="0"/>
                <a:cs typeface="Times New Roman" panose="02020603050405020304" pitchFamily="18" charset="0"/>
              </a:rPr>
              <a:t>Special symbols and </a:t>
            </a:r>
            <a:r>
              <a:rPr lang="en-US" dirty="0" err="1">
                <a:latin typeface="Times New Roman" panose="02020603050405020304" pitchFamily="18" charset="0"/>
                <a:cs typeface="Times New Roman" panose="02020603050405020304" pitchFamily="18" charset="0"/>
              </a:rPr>
              <a:t>emojis</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6477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ENCODING STANDARDS……</a:t>
            </a:r>
            <a:endParaRPr lang="en-US" dirty="0"/>
          </a:p>
        </p:txBody>
      </p:sp>
      <p:sp>
        <p:nvSpPr>
          <p:cNvPr id="3" name="Content Placeholder 2"/>
          <p:cNvSpPr>
            <a:spLocks noGrp="1"/>
          </p:cNvSpPr>
          <p:nvPr>
            <p:ph idx="1"/>
          </p:nvPr>
        </p:nvSpPr>
        <p:spPr/>
        <p:txBody>
          <a:bodyPr/>
          <a:lstStyle/>
          <a:p>
            <a:r>
              <a:rPr lang="en-US" b="1" dirty="0" smtClean="0"/>
              <a:t>Support for Kiswahili and Local Languages:</a:t>
            </a:r>
            <a:r>
              <a:rPr lang="en-US" dirty="0" smtClean="0"/>
              <a:t> Unicode, particularly the widely adopted </a:t>
            </a:r>
            <a:r>
              <a:rPr lang="en-US" b="1" dirty="0" smtClean="0"/>
              <a:t>UTF-8</a:t>
            </a:r>
            <a:r>
              <a:rPr lang="en-US" dirty="0" smtClean="0"/>
              <a:t> encoding, offers universal compatibility. It ensures that content in Kiswahili or any other local language (such as Amharic, which uses a non-Latin script) can be consistently stored, processed, and displayed across all devices and platforms without conflict. For Swahili, UTF-8 is maximally efficient because it uses single bytes for its basic Latin characters, just like ASCII, while still being able to seamlessly integrate any other language's script within the same document. </a:t>
            </a:r>
          </a:p>
          <a:p>
            <a:pPr marL="0" indent="0">
              <a:buNone/>
            </a:pPr>
            <a:endParaRPr lang="en-US" dirty="0"/>
          </a:p>
        </p:txBody>
      </p:sp>
    </p:spTree>
    <p:extLst>
      <p:ext uri="{BB962C8B-B14F-4D97-AF65-F5344CB8AC3E}">
        <p14:creationId xmlns:p14="http://schemas.microsoft.com/office/powerpoint/2010/main" val="934473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TEXT ANIMATION BASICS…</a:t>
            </a:r>
            <a:endParaRPr lang="en-US" b="1" dirty="0"/>
          </a:p>
        </p:txBody>
      </p:sp>
      <p:sp>
        <p:nvSpPr>
          <p:cNvPr id="3" name="Content Placeholder 2"/>
          <p:cNvSpPr>
            <a:spLocks noGrp="1"/>
          </p:cNvSpPr>
          <p:nvPr>
            <p:ph idx="1"/>
          </p:nvPr>
        </p:nvSpPr>
        <p:spPr/>
        <p:txBody>
          <a:bodyPr/>
          <a:lstStyle/>
          <a:p>
            <a:pPr marL="0" indent="0">
              <a:buNone/>
            </a:pPr>
            <a:r>
              <a:rPr lang="en-US" dirty="0" smtClean="0"/>
              <a:t>Text animation is a functional tool used to guide the viewer's eye and add emphasis to key information, making content more engaging and accessible</a:t>
            </a:r>
            <a:r>
              <a:rPr lang="en-US" dirty="0"/>
              <a:t>. </a:t>
            </a:r>
            <a:endParaRPr lang="en-US" dirty="0" smtClean="0"/>
          </a:p>
          <a:p>
            <a:pPr marL="0" indent="0">
              <a:buNone/>
            </a:pPr>
            <a:r>
              <a:rPr lang="en-US" b="1" dirty="0"/>
              <a:t>Key </a:t>
            </a:r>
            <a:r>
              <a:rPr lang="en-US" b="1" dirty="0" smtClean="0"/>
              <a:t>Concepts</a:t>
            </a:r>
          </a:p>
          <a:p>
            <a:r>
              <a:rPr lang="en-US" b="1" dirty="0" err="1"/>
              <a:t>Keyframes</a:t>
            </a:r>
            <a:r>
              <a:rPr lang="en-US" b="1" dirty="0"/>
              <a:t>:</a:t>
            </a:r>
            <a:r>
              <a:rPr lang="en-US" dirty="0"/>
              <a:t> The fundamental tool for animation. You set a parameter (e.g., position, scale, opacity) at one point in the timeline, move the </a:t>
            </a:r>
            <a:r>
              <a:rPr lang="en-US" dirty="0" err="1"/>
              <a:t>playhead</a:t>
            </a:r>
            <a:r>
              <a:rPr lang="en-US" dirty="0"/>
              <a:t>, and set a different value. The software then automatically creates the movement between those points</a:t>
            </a:r>
            <a:endParaRPr lang="en-US" dirty="0" smtClean="0"/>
          </a:p>
        </p:txBody>
      </p:sp>
    </p:spTree>
    <p:extLst>
      <p:ext uri="{BB962C8B-B14F-4D97-AF65-F5344CB8AC3E}">
        <p14:creationId xmlns:p14="http://schemas.microsoft.com/office/powerpoint/2010/main" val="2953812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TEXT ANIMATION BASICS….</a:t>
            </a:r>
            <a:endParaRPr lang="en-US" b="1" dirty="0"/>
          </a:p>
        </p:txBody>
      </p:sp>
      <p:sp>
        <p:nvSpPr>
          <p:cNvPr id="3" name="Content Placeholder 2"/>
          <p:cNvSpPr>
            <a:spLocks noGrp="1"/>
          </p:cNvSpPr>
          <p:nvPr>
            <p:ph idx="1"/>
          </p:nvPr>
        </p:nvSpPr>
        <p:spPr>
          <a:xfrm>
            <a:off x="838200" y="1825625"/>
            <a:ext cx="10515600" cy="4828672"/>
          </a:xfrm>
        </p:spPr>
        <p:txBody>
          <a:bodyPr/>
          <a:lstStyle/>
          <a:p>
            <a:r>
              <a:rPr lang="en-US" b="1" dirty="0"/>
              <a:t>Templates:</a:t>
            </a:r>
            <a:r>
              <a:rPr lang="en-US" dirty="0"/>
              <a:t> Most modern video editing software (like Adobe Premiere Pro, After Effects, Final Cut Pro, DaVinci Resolve) offers a variety of drag-and-drop animation presets, such as "typewriter" effects, fades, or slides, which are much faster than manual </a:t>
            </a:r>
            <a:r>
              <a:rPr lang="en-US" dirty="0" smtClean="0"/>
              <a:t>key framing.</a:t>
            </a:r>
          </a:p>
          <a:p>
            <a:r>
              <a:rPr lang="en-US" b="1" dirty="0"/>
              <a:t>Motion Blur:</a:t>
            </a:r>
            <a:r>
              <a:rPr lang="en-US" dirty="0"/>
              <a:t> Applying motion blur can make animations appear much smoother and more professional, though it may not be suitable for all types of animation.</a:t>
            </a:r>
          </a:p>
          <a:p>
            <a:r>
              <a:rPr lang="en-US" b="1" dirty="0"/>
              <a:t>Timing:</a:t>
            </a:r>
            <a:r>
              <a:rPr lang="en-US" dirty="0"/>
              <a:t> The timing of text animation is crucial for rhythm and clarity, ensuring the text appears exactly when needed to emphasize a spoken word or a scene change. </a:t>
            </a:r>
          </a:p>
          <a:p>
            <a:pPr marL="0" indent="0">
              <a:buNone/>
            </a:pPr>
            <a:endParaRPr lang="en-US" dirty="0"/>
          </a:p>
        </p:txBody>
      </p:sp>
    </p:spTree>
    <p:extLst>
      <p:ext uri="{BB962C8B-B14F-4D97-AF65-F5344CB8AC3E}">
        <p14:creationId xmlns:p14="http://schemas.microsoft.com/office/powerpoint/2010/main" val="4193283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Titles, credits, captions, subtitles…..</a:t>
            </a:r>
            <a:endParaRPr lang="en-US" b="1" dirty="0"/>
          </a:p>
        </p:txBody>
      </p:sp>
      <p:sp>
        <p:nvSpPr>
          <p:cNvPr id="5" name="Content Placeholder 4"/>
          <p:cNvSpPr>
            <a:spLocks noGrp="1"/>
          </p:cNvSpPr>
          <p:nvPr>
            <p:ph idx="1"/>
          </p:nvPr>
        </p:nvSpPr>
        <p:spPr/>
        <p:txBody>
          <a:bodyPr>
            <a:normAutofit/>
          </a:bodyPr>
          <a:lstStyle/>
          <a:p>
            <a:pPr marL="0" indent="0">
              <a:buNone/>
            </a:pPr>
            <a:r>
              <a:rPr lang="en-US" sz="3200" b="1" dirty="0" smtClean="0"/>
              <a:t>Titles</a:t>
            </a:r>
          </a:p>
          <a:p>
            <a:r>
              <a:rPr lang="en-US" sz="3200" b="1" dirty="0"/>
              <a:t>Purpose:</a:t>
            </a:r>
            <a:r>
              <a:rPr lang="en-US" sz="3200" dirty="0"/>
              <a:t> Capturing attention, establishing branding, and setting the tone for the </a:t>
            </a:r>
            <a:r>
              <a:rPr lang="en-US" sz="3200" dirty="0" smtClean="0"/>
              <a:t>video.</a:t>
            </a:r>
          </a:p>
          <a:p>
            <a:r>
              <a:rPr lang="en-US" sz="3200" b="1" dirty="0" smtClean="0"/>
              <a:t>Techniques</a:t>
            </a:r>
            <a:r>
              <a:rPr lang="en-US" sz="3200" b="1" dirty="0"/>
              <a:t>:</a:t>
            </a:r>
            <a:endParaRPr lang="en-US" sz="3200" dirty="0"/>
          </a:p>
          <a:p>
            <a:pPr lvl="1"/>
            <a:r>
              <a:rPr lang="en-US" sz="3200" b="1" dirty="0"/>
              <a:t>Cinematic Titles:</a:t>
            </a:r>
            <a:r>
              <a:rPr lang="en-US" sz="3200" dirty="0"/>
              <a:t> Often involve slow fades or blurs for a dramatic effect.</a:t>
            </a:r>
          </a:p>
          <a:p>
            <a:pPr lvl="1"/>
            <a:r>
              <a:rPr lang="en-US" sz="3200" b="1" dirty="0"/>
              <a:t>Dynamic/Snappy Intros:</a:t>
            </a:r>
            <a:r>
              <a:rPr lang="en-US" sz="3200" dirty="0"/>
              <a:t> Use quick pops, scales, or slides to appeal to social media audiences. </a:t>
            </a:r>
          </a:p>
          <a:p>
            <a:endParaRPr lang="en-US" sz="3200" dirty="0"/>
          </a:p>
        </p:txBody>
      </p:sp>
    </p:spTree>
    <p:extLst>
      <p:ext uri="{BB962C8B-B14F-4D97-AF65-F5344CB8AC3E}">
        <p14:creationId xmlns:p14="http://schemas.microsoft.com/office/powerpoint/2010/main" val="3113989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Titles, credits, captions, subtitles…..</a:t>
            </a:r>
            <a:endParaRPr lang="en-US" dirty="0"/>
          </a:p>
        </p:txBody>
      </p:sp>
      <p:sp>
        <p:nvSpPr>
          <p:cNvPr id="3" name="Content Placeholder 2"/>
          <p:cNvSpPr>
            <a:spLocks noGrp="1"/>
          </p:cNvSpPr>
          <p:nvPr>
            <p:ph idx="1"/>
          </p:nvPr>
        </p:nvSpPr>
        <p:spPr/>
        <p:txBody>
          <a:bodyPr>
            <a:normAutofit/>
          </a:bodyPr>
          <a:lstStyle/>
          <a:p>
            <a:pPr marL="0" indent="0">
              <a:buNone/>
            </a:pPr>
            <a:r>
              <a:rPr lang="en-US" sz="3600" b="1" dirty="0" smtClean="0">
                <a:latin typeface="Times New Roman" panose="02020603050405020304" pitchFamily="18" charset="0"/>
                <a:cs typeface="Times New Roman" panose="02020603050405020304" pitchFamily="18" charset="0"/>
              </a:rPr>
              <a:t>Credits</a:t>
            </a:r>
          </a:p>
          <a:p>
            <a:r>
              <a:rPr lang="en-US" sz="3600" b="1" dirty="0">
                <a:latin typeface="Times New Roman" panose="02020603050405020304" pitchFamily="18" charset="0"/>
                <a:cs typeface="Times New Roman" panose="02020603050405020304" pitchFamily="18" charset="0"/>
              </a:rPr>
              <a:t>Purpose:</a:t>
            </a:r>
            <a:r>
              <a:rPr lang="en-US" sz="3600" dirty="0">
                <a:latin typeface="Times New Roman" panose="02020603050405020304" pitchFamily="18" charset="0"/>
                <a:cs typeface="Times New Roman" panose="02020603050405020304" pitchFamily="18" charset="0"/>
              </a:rPr>
              <a:t> Acknowledging contributors at the end of a video.</a:t>
            </a:r>
          </a:p>
          <a:p>
            <a:r>
              <a:rPr lang="en-US" sz="3600" b="1" dirty="0" smtClean="0">
                <a:latin typeface="Times New Roman" panose="02020603050405020304" pitchFamily="18" charset="0"/>
                <a:cs typeface="Times New Roman" panose="02020603050405020304" pitchFamily="18" charset="0"/>
              </a:rPr>
              <a:t>Techniques: Credit </a:t>
            </a:r>
            <a:r>
              <a:rPr lang="en-US" sz="3600" b="1" dirty="0">
                <a:latin typeface="Times New Roman" panose="02020603050405020304" pitchFamily="18" charset="0"/>
                <a:cs typeface="Times New Roman" panose="02020603050405020304" pitchFamily="18" charset="0"/>
              </a:rPr>
              <a:t>Roll:</a:t>
            </a:r>
            <a:r>
              <a:rPr lang="en-US" sz="3600" dirty="0">
                <a:latin typeface="Times New Roman" panose="02020603050405020304" pitchFamily="18" charset="0"/>
                <a:cs typeface="Times New Roman" panose="02020603050405020304" pitchFamily="18" charset="0"/>
              </a:rPr>
              <a:t> The classic effect of text moving vertically up the screen.</a:t>
            </a:r>
          </a:p>
          <a:p>
            <a:r>
              <a:rPr lang="en-US" sz="3600" b="1" dirty="0">
                <a:latin typeface="Times New Roman" panose="02020603050405020304" pitchFamily="18" charset="0"/>
                <a:cs typeface="Times New Roman" panose="02020603050405020304" pitchFamily="18" charset="0"/>
              </a:rPr>
              <a:t>Basic Text:</a:t>
            </a:r>
            <a:r>
              <a:rPr lang="en-US" sz="3600" dirty="0">
                <a:latin typeface="Times New Roman" panose="02020603050405020304" pitchFamily="18" charset="0"/>
                <a:cs typeface="Times New Roman" panose="02020603050405020304" pitchFamily="18" charset="0"/>
              </a:rPr>
              <a:t> Can also be static pages with a simple fade between them</a:t>
            </a:r>
          </a:p>
          <a:p>
            <a:pPr marL="0" indent="0">
              <a:buNone/>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8461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Titles, credits, captions, subtitles…..</a:t>
            </a:r>
            <a:endParaRPr lang="en-US" dirty="0"/>
          </a:p>
        </p:txBody>
      </p:sp>
      <p:sp>
        <p:nvSpPr>
          <p:cNvPr id="3" name="Content Placeholder 2"/>
          <p:cNvSpPr>
            <a:spLocks noGrp="1"/>
          </p:cNvSpPr>
          <p:nvPr>
            <p:ph idx="1"/>
          </p:nvPr>
        </p:nvSpPr>
        <p:spPr>
          <a:xfrm>
            <a:off x="838200" y="1825625"/>
            <a:ext cx="10515600" cy="4593282"/>
          </a:xfrm>
        </p:spPr>
        <p:txBody>
          <a:bodyPr/>
          <a:lstStyle/>
          <a:p>
            <a:pPr marL="0" indent="0">
              <a:buNone/>
            </a:pPr>
            <a:r>
              <a:rPr lang="en-US" b="1" dirty="0"/>
              <a:t>Captions &amp; </a:t>
            </a:r>
            <a:r>
              <a:rPr lang="en-US" b="1" dirty="0" smtClean="0"/>
              <a:t>Subtitles</a:t>
            </a:r>
          </a:p>
          <a:p>
            <a:r>
              <a:rPr lang="en-US" b="1" dirty="0"/>
              <a:t>Purpose:</a:t>
            </a:r>
            <a:r>
              <a:rPr lang="en-US" dirty="0"/>
              <a:t> Improving accessibility and viewer retention, especially in sound-off social media environments.</a:t>
            </a:r>
          </a:p>
          <a:p>
            <a:r>
              <a:rPr lang="en-US" b="1" dirty="0"/>
              <a:t>Techniques:</a:t>
            </a:r>
            <a:endParaRPr lang="en-US" dirty="0"/>
          </a:p>
          <a:p>
            <a:pPr lvl="1"/>
            <a:r>
              <a:rPr lang="en-US" b="1" dirty="0"/>
              <a:t>Auto-Generation:</a:t>
            </a:r>
            <a:r>
              <a:rPr lang="en-US" dirty="0"/>
              <a:t> Many modern tools use speech-to-text functionality to automatically generate subtitle tracks.</a:t>
            </a:r>
          </a:p>
          <a:p>
            <a:pPr lvl="1"/>
            <a:r>
              <a:rPr lang="en-US" b="1" dirty="0"/>
              <a:t>Animated/Highlight Captions:</a:t>
            </a:r>
            <a:r>
              <a:rPr lang="en-US" dirty="0"/>
              <a:t> The "Mr. Beast" style where individual words pop up or change color as they are spoken to keep the viewer engaged.</a:t>
            </a:r>
          </a:p>
          <a:p>
            <a:pPr lvl="1"/>
            <a:r>
              <a:rPr lang="en-US" b="1" dirty="0"/>
              <a:t>Basic Subtitles:</a:t>
            </a:r>
            <a:r>
              <a:rPr lang="en-US" dirty="0"/>
              <a:t> Usually simple, clearly readable text at the bottom of the screen with minimal or no animation, focused purely on readability. </a:t>
            </a:r>
          </a:p>
          <a:p>
            <a:endParaRPr lang="en-US" dirty="0"/>
          </a:p>
        </p:txBody>
      </p:sp>
    </p:spTree>
    <p:extLst>
      <p:ext uri="{BB962C8B-B14F-4D97-AF65-F5344CB8AC3E}">
        <p14:creationId xmlns:p14="http://schemas.microsoft.com/office/powerpoint/2010/main" val="3047900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4855"/>
            <a:ext cx="10515600" cy="1545834"/>
          </a:xfrm>
        </p:spPr>
        <p:txBody>
          <a:bodyPr>
            <a:normAutofit fontScale="90000"/>
          </a:bodyPr>
          <a:lstStyle/>
          <a:p>
            <a:r>
              <a:rPr lang="en-GB" b="1" dirty="0"/>
              <a:t>Guidelines for on-screen text in e-learning, mobile apps, and videos.</a:t>
            </a:r>
            <a:r>
              <a:rPr lang="en-US" b="1" dirty="0"/>
              <a:t/>
            </a:r>
            <a:br>
              <a:rPr lang="en-US" b="1" dirty="0"/>
            </a:br>
            <a:endParaRPr lang="en-US" b="1" dirty="0"/>
          </a:p>
        </p:txBody>
      </p:sp>
      <p:sp>
        <p:nvSpPr>
          <p:cNvPr id="3" name="Content Placeholder 2"/>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Specific to Mobile </a:t>
            </a:r>
            <a:r>
              <a:rPr lang="en-US" b="1" dirty="0" smtClean="0">
                <a:latin typeface="Times New Roman" panose="02020603050405020304" pitchFamily="18" charset="0"/>
                <a:cs typeface="Times New Roman" panose="02020603050405020304" pitchFamily="18" charset="0"/>
              </a:rPr>
              <a:t>Apps</a:t>
            </a:r>
          </a:p>
          <a:p>
            <a:r>
              <a:rPr lang="en-US" b="1" dirty="0">
                <a:latin typeface="Times New Roman" panose="02020603050405020304" pitchFamily="18" charset="0"/>
                <a:cs typeface="Times New Roman" panose="02020603050405020304" pitchFamily="18" charset="0"/>
              </a:rPr>
              <a:t>Mobile-First Design</a:t>
            </a:r>
            <a:r>
              <a:rPr lang="en-US" dirty="0">
                <a:latin typeface="Times New Roman" panose="02020603050405020304" pitchFamily="18" charset="0"/>
                <a:cs typeface="Times New Roman" panose="02020603050405020304" pitchFamily="18" charset="0"/>
              </a:rPr>
              <a:t>: Start the design process with the constraints of a small screen, focusing on core content and functionality first.</a:t>
            </a:r>
          </a:p>
          <a:p>
            <a:r>
              <a:rPr lang="en-US" b="1" dirty="0">
                <a:latin typeface="Times New Roman" panose="02020603050405020304" pitchFamily="18" charset="0"/>
                <a:cs typeface="Times New Roman" panose="02020603050405020304" pitchFamily="18" charset="0"/>
              </a:rPr>
              <a:t>Optimize for Touch</a:t>
            </a:r>
            <a:r>
              <a:rPr lang="en-US" dirty="0">
                <a:latin typeface="Times New Roman" panose="02020603050405020304" pitchFamily="18" charset="0"/>
                <a:cs typeface="Times New Roman" panose="02020603050405020304" pitchFamily="18" charset="0"/>
              </a:rPr>
              <a:t>: Ensure interactive elements like buttons have a minimum touch target size of 44x44 pixels (iOS) or 48x48 </a:t>
            </a:r>
            <a:r>
              <a:rPr lang="en-US" dirty="0" err="1">
                <a:latin typeface="Times New Roman" panose="02020603050405020304" pitchFamily="18" charset="0"/>
                <a:cs typeface="Times New Roman" panose="02020603050405020304" pitchFamily="18" charset="0"/>
              </a:rPr>
              <a:t>dp</a:t>
            </a:r>
            <a:r>
              <a:rPr lang="en-US" dirty="0">
                <a:latin typeface="Times New Roman" panose="02020603050405020304" pitchFamily="18" charset="0"/>
                <a:cs typeface="Times New Roman" panose="02020603050405020304" pitchFamily="18" charset="0"/>
              </a:rPr>
              <a:t> (Android) and are placed within the easy-to-reach "thumb zone" (the bottom arc of the screen)</a:t>
            </a:r>
          </a:p>
          <a:p>
            <a:r>
              <a:rPr lang="en-US" b="1" dirty="0">
                <a:latin typeface="Times New Roman" panose="02020603050405020304" pitchFamily="18" charset="0"/>
                <a:cs typeface="Times New Roman" panose="02020603050405020304" pitchFamily="18" charset="0"/>
              </a:rPr>
              <a:t>Use Responsive Typography</a:t>
            </a:r>
            <a:r>
              <a:rPr lang="en-US" dirty="0">
                <a:latin typeface="Times New Roman" panose="02020603050405020304" pitchFamily="18" charset="0"/>
                <a:cs typeface="Times New Roman" panose="02020603050405020304" pitchFamily="18" charset="0"/>
              </a:rPr>
              <a:t>: Employ flexible units (</a:t>
            </a:r>
            <a:r>
              <a:rPr lang="en-US" dirty="0" err="1">
                <a:latin typeface="Times New Roman" panose="02020603050405020304" pitchFamily="18" charset="0"/>
                <a:cs typeface="Times New Roman" panose="02020603050405020304" pitchFamily="18" charset="0"/>
              </a:rPr>
              <a:t>em</a:t>
            </a:r>
            <a:r>
              <a:rPr lang="en-US" dirty="0">
                <a:latin typeface="Times New Roman" panose="02020603050405020304" pitchFamily="18" charset="0"/>
                <a:cs typeface="Times New Roman" panose="02020603050405020304" pitchFamily="18" charset="0"/>
              </a:rPr>
              <a:t>, rem, percentages) for font sizes and line heights so text scales smoothly across different screen sizes and orientations.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995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8230"/>
            <a:ext cx="10515600" cy="1617395"/>
          </a:xfrm>
        </p:spPr>
        <p:txBody>
          <a:bodyPr>
            <a:normAutofit fontScale="90000"/>
          </a:bodyPr>
          <a:lstStyle/>
          <a:p>
            <a:r>
              <a:rPr lang="en-GB" b="1" dirty="0" smtClean="0"/>
              <a:t>Guidelines for on-screen text in e-learning, mobile apps, and videos.</a:t>
            </a:r>
            <a:r>
              <a:rPr lang="en-US" b="1" dirty="0" smtClean="0"/>
              <a:t/>
            </a:r>
            <a:br>
              <a:rPr lang="en-US" b="1" dirty="0" smtClean="0"/>
            </a:br>
            <a:endParaRPr lang="en-US" dirty="0"/>
          </a:p>
        </p:txBody>
      </p:sp>
      <p:sp>
        <p:nvSpPr>
          <p:cNvPr id="3" name="Content Placeholder 2"/>
          <p:cNvSpPr>
            <a:spLocks noGrp="1"/>
          </p:cNvSpPr>
          <p:nvPr>
            <p:ph idx="1"/>
          </p:nvPr>
        </p:nvSpPr>
        <p:spPr>
          <a:xfrm>
            <a:off x="838200" y="1825624"/>
            <a:ext cx="10515600" cy="5032375"/>
          </a:xfrm>
        </p:spPr>
        <p:txBody>
          <a:bodyPr>
            <a:normAutofit/>
          </a:bodyPr>
          <a:lstStyle/>
          <a:p>
            <a:pPr marL="0" indent="0">
              <a:buNone/>
            </a:pPr>
            <a:r>
              <a:rPr lang="en-US" b="1" dirty="0"/>
              <a:t>Specific to E-learning &amp; </a:t>
            </a:r>
            <a:r>
              <a:rPr lang="en-US" b="1" dirty="0" smtClean="0"/>
              <a:t>Videos</a:t>
            </a:r>
          </a:p>
          <a:p>
            <a:r>
              <a:rPr lang="en-US" b="1" dirty="0"/>
              <a:t>Keep On-Screen Text Concise</a:t>
            </a:r>
            <a:r>
              <a:rPr lang="en-US" dirty="0"/>
              <a:t>: On-screen text should support the audio or visual elements, not duplicate them verbatim. Use bullet points </a:t>
            </a:r>
            <a:r>
              <a:rPr lang="en-US" dirty="0" smtClean="0"/>
              <a:t>or </a:t>
            </a:r>
            <a:r>
              <a:rPr lang="en-US" dirty="0"/>
              <a:t>short phrases rather than full sentences on </a:t>
            </a:r>
            <a:r>
              <a:rPr lang="en-US" dirty="0" smtClean="0"/>
              <a:t>slides</a:t>
            </a:r>
          </a:p>
          <a:p>
            <a:r>
              <a:rPr lang="en-US" b="1" dirty="0"/>
              <a:t>Provide Captions and Transcripts</a:t>
            </a:r>
            <a:r>
              <a:rPr lang="en-US" dirty="0"/>
              <a:t>: Offer accurate closed captions and full transcripts for all audio and video content to support learners with hearing impairments or those in noisy environments.</a:t>
            </a:r>
          </a:p>
          <a:p>
            <a:r>
              <a:rPr lang="en-US" b="1" dirty="0"/>
              <a:t>Caption </a:t>
            </a:r>
            <a:r>
              <a:rPr lang="en-US" b="1" dirty="0" smtClean="0"/>
              <a:t>Formatting</a:t>
            </a:r>
            <a:r>
              <a:rPr lang="en-US" dirty="0" smtClean="0"/>
              <a:t>:</a:t>
            </a:r>
          </a:p>
          <a:p>
            <a:pPr marL="514350" indent="-514350">
              <a:buFont typeface="+mj-lt"/>
              <a:buAutoNum type="arabicPeriod"/>
            </a:pPr>
            <a:r>
              <a:rPr lang="en-US" dirty="0" smtClean="0"/>
              <a:t>Limit </a:t>
            </a:r>
            <a:r>
              <a:rPr lang="en-US" dirty="0"/>
              <a:t>captions to one or two lines of text at a time, with no more than approximately 30-40 characters per line</a:t>
            </a:r>
            <a:r>
              <a:rPr lang="en-US" dirty="0" smtClean="0"/>
              <a:t>.</a:t>
            </a:r>
            <a:endParaRPr lang="en-US" dirty="0"/>
          </a:p>
          <a:p>
            <a:endParaRPr lang="en-US" dirty="0"/>
          </a:p>
        </p:txBody>
      </p:sp>
    </p:spTree>
    <p:extLst>
      <p:ext uri="{BB962C8B-B14F-4D97-AF65-F5344CB8AC3E}">
        <p14:creationId xmlns:p14="http://schemas.microsoft.com/office/powerpoint/2010/main" val="2405237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Guidelines for on-screen text in e-learning, mobile apps, and videos.</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US" b="1" dirty="0" smtClean="0"/>
              <a:t>Caption Formatting</a:t>
            </a:r>
            <a:r>
              <a:rPr lang="en-US" dirty="0" smtClean="0"/>
              <a:t>:</a:t>
            </a:r>
          </a:p>
          <a:p>
            <a:pPr marL="0" indent="0">
              <a:buNone/>
            </a:pPr>
            <a:r>
              <a:rPr lang="en-US" dirty="0" smtClean="0"/>
              <a:t>2. </a:t>
            </a:r>
            <a:r>
              <a:rPr lang="en-US" dirty="0"/>
              <a:t>Keep captions on screen long enough to be read (around 1 second per 13 characters</a:t>
            </a:r>
            <a:r>
              <a:rPr lang="en-US" dirty="0" smtClean="0"/>
              <a:t>)</a:t>
            </a:r>
          </a:p>
          <a:p>
            <a:pPr marL="0" indent="0">
              <a:buNone/>
            </a:pPr>
            <a:r>
              <a:rPr lang="en-US" dirty="0" smtClean="0"/>
              <a:t>3.</a:t>
            </a:r>
            <a:r>
              <a:rPr lang="en-US" dirty="0"/>
              <a:t> </a:t>
            </a:r>
            <a:r>
              <a:rPr lang="en-US"/>
              <a:t>Place captions in the lower third of the screen, ensuring they do not obstruct other important visual information.</a:t>
            </a:r>
          </a:p>
          <a:p>
            <a:pPr marL="0" indent="0">
              <a:buNone/>
            </a:pPr>
            <a:endParaRPr lang="en-US" dirty="0" smtClean="0"/>
          </a:p>
          <a:p>
            <a:pPr marL="514350" indent="-514350">
              <a:buFont typeface="+mj-lt"/>
              <a:buAutoNum type="arabicPeriod"/>
            </a:pPr>
            <a:endParaRPr lang="en-US" b="1" dirty="0"/>
          </a:p>
        </p:txBody>
      </p:sp>
    </p:spTree>
    <p:extLst>
      <p:ext uri="{BB962C8B-B14F-4D97-AF65-F5344CB8AC3E}">
        <p14:creationId xmlns:p14="http://schemas.microsoft.com/office/powerpoint/2010/main" val="24541098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1768</Words>
  <Application>Microsoft Office PowerPoint</Application>
  <PresentationFormat>Widescreen</PresentationFormat>
  <Paragraphs>93</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Topic 4:</vt:lpstr>
      <vt:lpstr>Role of text in multimedia </vt:lpstr>
      <vt:lpstr>Legibility vs Readability. </vt:lpstr>
      <vt:lpstr>Legibility vs Readability. </vt:lpstr>
      <vt:lpstr>FONT FAMILIES</vt:lpstr>
      <vt:lpstr>FONT FAMILIES……</vt:lpstr>
      <vt:lpstr>Font Size</vt:lpstr>
      <vt:lpstr>LINE SPACING.</vt:lpstr>
      <vt:lpstr>ALIGNMENT….</vt:lpstr>
      <vt:lpstr>ALIGNMENT….</vt:lpstr>
      <vt:lpstr>ENCODING  STANDARDS</vt:lpstr>
      <vt:lpstr>ENCODING STANDARDS…</vt:lpstr>
      <vt:lpstr>ENCODING STANDARDS……</vt:lpstr>
      <vt:lpstr>TEXT ANIMATION BASICS…</vt:lpstr>
      <vt:lpstr>TEXT ANIMATION BASICS….</vt:lpstr>
      <vt:lpstr>Titles, credits, captions, subtitles…..</vt:lpstr>
      <vt:lpstr>Titles, credits, captions, subtitles…..</vt:lpstr>
      <vt:lpstr>Titles, credits, captions, subtitles…..</vt:lpstr>
      <vt:lpstr>Guidelines for on-screen text in e-learning, mobile apps, and videos. </vt:lpstr>
      <vt:lpstr>Guidelines for on-screen text in e-learning, mobile apps, and videos. </vt:lpstr>
      <vt:lpstr>Guidelines for on-screen text in e-learning, mobile apps, and videos.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4:</dc:title>
  <dc:creator>BRAYAN</dc:creator>
  <cp:lastModifiedBy>BRAYAN</cp:lastModifiedBy>
  <cp:revision>8</cp:revision>
  <dcterms:created xsi:type="dcterms:W3CDTF">2025-12-03T07:04:02Z</dcterms:created>
  <dcterms:modified xsi:type="dcterms:W3CDTF">2025-12-03T08:04:50Z</dcterms:modified>
</cp:coreProperties>
</file>